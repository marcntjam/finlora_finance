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78CC44E-06C7-FF33-1956-08DD02A81E0C}">
          <p14:sldIdLst>
            <p14:sldId id="256"/>
            <p14:sldId id="258"/>
            <p14:sldId id="259"/>
            <p14:sldId id="260"/>
            <p14:sldId id="261"/>
            <p14:sldId id="262"/>
            <p14:sldId id="263"/>
          </p14:sldIdLst>
        </p14:section>
        <p14:section name="Analysis" id="{F3433A74-165E-E8DA-F88E-28D20B9D12AF}">
          <p14:sldIdLst>
            <p14:sldId id="264"/>
            <p14:sldId id="265"/>
            <p14:sldId id="266"/>
            <p14:sldId id="267"/>
            <p14:sldId id="268"/>
            <p14:sldId id="269"/>
            <p14:sldId id="270"/>
            <p14:sldId id="271"/>
          </p14:sldIdLst>
        </p14:section>
        <p14:section name="Deployment" id="{5922B290-7A90-46E5-29CD-99354954C89E}">
          <p14:sldIdLst>
            <p14:sldId id="272"/>
            <p14:sldId id="273"/>
          </p14:sldIdLst>
        </p14:section>
        <p14:section name="Outcomes" id="{D2E14821-AB14-EE80-A842-80785E550DEE}">
          <p14:sldIdLst>
            <p14:sldId id="274"/>
          </p14:sldIdLst>
        </p14:section>
        <p14:section name="Conclusion" id="{BEB47B82-A226-CF40-F584-6A09568139E3}">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247" autoAdjust="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4213D"/>
                </a:solidFill>
                <a:latin typeface="+mn-lt"/>
              </a:defRPr>
            </a:pPr>
            <a:r>
              <a:rPr lang="en-GB" sz="1200" b="0" i="0" u="none" strike="noStrike">
                <a:solidFill>
                  <a:srgbClr val="14213D"/>
                </a:solidFill>
                <a:latin typeface="+mn-lt"/>
              </a:rPr>
              <a:t>Fraud rate (%) by other transactions in the past hour</a:t>
            </a:r>
          </a:p>
        </c:rich>
      </c:tx>
      <c:overlay val="0"/>
    </c:title>
    <c:autoTitleDeleted val="0"/>
    <c:plotArea>
      <c:layout/>
      <c:barChart>
        <c:barDir val="col"/>
        <c:grouping val="clustered"/>
        <c:varyColors val="0"/>
        <c:ser>
          <c:idx val="0"/>
          <c:order val="0"/>
          <c:tx>
            <c:strRef>
              <c:f>Sheet1!$B$1</c:f>
              <c:strCache>
                <c:ptCount val="1"/>
                <c:pt idx="0">
                  <c:v>Fraud rate %</c:v>
                </c:pt>
              </c:strCache>
            </c:strRef>
          </c:tx>
          <c:spPr>
            <a:solidFill>
              <a:srgbClr val="5B6C8F"/>
            </a:solidFill>
            <a:effectLst/>
          </c:spPr>
          <c:invertIfNegative val="0"/>
          <c:dPt>
            <c:idx val="0"/>
            <c:invertIfNegative val="0"/>
            <c:bubble3D val="0"/>
            <c:spPr>
              <a:solidFill>
                <a:srgbClr val="5B6C8F"/>
              </a:solidFill>
              <a:effectLst/>
            </c:spPr>
            <c:extLst>
              <c:ext xmlns:c16="http://schemas.microsoft.com/office/drawing/2014/chart" uri="{C3380CC4-5D6E-409C-BE32-E72D297353CC}">
                <c16:uniqueId val="{00000001-CE4E-4A2A-985E-5BBDA4306EAA}"/>
              </c:ext>
            </c:extLst>
          </c:dPt>
          <c:dPt>
            <c:idx val="1"/>
            <c:invertIfNegative val="0"/>
            <c:bubble3D val="0"/>
            <c:spPr>
              <a:solidFill>
                <a:srgbClr val="E4572E"/>
              </a:solidFill>
              <a:effectLst/>
            </c:spPr>
            <c:extLst>
              <c:ext xmlns:c16="http://schemas.microsoft.com/office/drawing/2014/chart" uri="{C3380CC4-5D6E-409C-BE32-E72D297353CC}">
                <c16:uniqueId val="{00000003-CE4E-4A2A-985E-5BBDA4306EAA}"/>
              </c:ext>
            </c:extLst>
          </c:dPt>
          <c:dPt>
            <c:idx val="2"/>
            <c:invertIfNegative val="0"/>
            <c:bubble3D val="0"/>
            <c:spPr>
              <a:solidFill>
                <a:srgbClr val="E4572E"/>
              </a:solidFill>
              <a:effectLst/>
            </c:spPr>
            <c:extLst>
              <c:ext xmlns:c16="http://schemas.microsoft.com/office/drawing/2014/chart" uri="{C3380CC4-5D6E-409C-BE32-E72D297353CC}">
                <c16:uniqueId val="{00000005-CE4E-4A2A-985E-5BBDA4306EAA}"/>
              </c:ext>
            </c:extLst>
          </c:dPt>
          <c:dPt>
            <c:idx val="3"/>
            <c:invertIfNegative val="0"/>
            <c:bubble3D val="0"/>
            <c:spPr>
              <a:solidFill>
                <a:srgbClr val="E4572E"/>
              </a:solidFill>
              <a:effectLst/>
            </c:spPr>
            <c:extLst>
              <c:ext xmlns:c16="http://schemas.microsoft.com/office/drawing/2014/chart" uri="{C3380CC4-5D6E-409C-BE32-E72D297353CC}">
                <c16:uniqueId val="{00000007-CE4E-4A2A-985E-5BBDA4306EAA}"/>
              </c:ext>
            </c:extLst>
          </c:dPt>
          <c:dLbls>
            <c:numFmt formatCode="0.0&quot;%&quot;"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c:v>
                </c:pt>
                <c:pt idx="1">
                  <c:v>1</c:v>
                </c:pt>
                <c:pt idx="2">
                  <c:v>2</c:v>
                </c:pt>
                <c:pt idx="3">
                  <c:v>3</c:v>
                </c:pt>
              </c:strCache>
            </c:strRef>
          </c:cat>
          <c:val>
            <c:numRef>
              <c:f>Sheet1!$B$2:$B$5</c:f>
              <c:numCache>
                <c:formatCode>General</c:formatCode>
                <c:ptCount val="4"/>
                <c:pt idx="0">
                  <c:v>1.7</c:v>
                </c:pt>
                <c:pt idx="1">
                  <c:v>92.6</c:v>
                </c:pt>
                <c:pt idx="2">
                  <c:v>88.5</c:v>
                </c:pt>
                <c:pt idx="3">
                  <c:v>100</c:v>
                </c:pt>
              </c:numCache>
            </c:numRef>
          </c:val>
          <c:extLst>
            <c:ext xmlns:c16="http://schemas.microsoft.com/office/drawing/2014/chart" uri="{C3380CC4-5D6E-409C-BE32-E72D297353CC}">
              <c16:uniqueId val="{00000008-CE4E-4A2A-985E-5BBDA4306EA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title>
          <c:tx>
            <c:rich>
              <a:bodyPr/>
              <a:lstStyle/>
              <a:p>
                <a:pPr>
                  <a:defRPr sz="1000" b="0" i="0" u="none" strike="noStrike">
                    <a:solidFill>
                      <a:srgbClr val="5B6C8F"/>
                    </a:solidFill>
                    <a:latin typeface="Arial"/>
                  </a:defRPr>
                </a:pPr>
                <a:r>
                  <a:rPr lang="en-GB" sz="1000" b="0" i="0" u="none" strike="noStrike">
                    <a:solidFill>
                      <a:srgbClr val="5B6C8F"/>
                    </a:solidFill>
                    <a:latin typeface="Arial"/>
                  </a:rPr>
                  <a:t>transaction_velocity_1h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C8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4213D"/>
                </a:solidFill>
                <a:latin typeface="+mn-lt"/>
              </a:defRPr>
            </a:pPr>
            <a:r>
              <a:rPr lang="en-GB" sz="1200" b="0" i="0" u="none" strike="noStrike" dirty="0">
                <a:solidFill>
                  <a:srgbClr val="14213D"/>
                </a:solidFill>
                <a:latin typeface="+mn-lt"/>
              </a:rPr>
              <a:t>Fraud rate (%) by transaction size vs. the account's 30-day average</a:t>
            </a:r>
          </a:p>
        </c:rich>
      </c:tx>
      <c:overlay val="0"/>
    </c:title>
    <c:autoTitleDeleted val="0"/>
    <c:plotArea>
      <c:layout/>
      <c:barChart>
        <c:barDir val="col"/>
        <c:grouping val="clustered"/>
        <c:varyColors val="0"/>
        <c:ser>
          <c:idx val="0"/>
          <c:order val="0"/>
          <c:tx>
            <c:strRef>
              <c:f>Sheet1!$B$1</c:f>
              <c:strCache>
                <c:ptCount val="1"/>
                <c:pt idx="0">
                  <c:v>Fraud rate %</c:v>
                </c:pt>
              </c:strCache>
            </c:strRef>
          </c:tx>
          <c:spPr>
            <a:solidFill>
              <a:srgbClr val="9AA8BF"/>
            </a:solidFill>
            <a:effectLst/>
          </c:spPr>
          <c:invertIfNegative val="0"/>
          <c:dPt>
            <c:idx val="0"/>
            <c:invertIfNegative val="0"/>
            <c:bubble3D val="0"/>
            <c:spPr>
              <a:solidFill>
                <a:srgbClr val="9AA8BF"/>
              </a:solidFill>
              <a:effectLst/>
            </c:spPr>
            <c:extLst>
              <c:ext xmlns:c16="http://schemas.microsoft.com/office/drawing/2014/chart" uri="{C3380CC4-5D6E-409C-BE32-E72D297353CC}">
                <c16:uniqueId val="{00000001-171A-4F7D-9D7F-C5A7A6691297}"/>
              </c:ext>
            </c:extLst>
          </c:dPt>
          <c:dPt>
            <c:idx val="1"/>
            <c:invertIfNegative val="0"/>
            <c:bubble3D val="0"/>
            <c:spPr>
              <a:solidFill>
                <a:srgbClr val="9AA8BF"/>
              </a:solidFill>
              <a:effectLst/>
            </c:spPr>
            <c:extLst>
              <c:ext xmlns:c16="http://schemas.microsoft.com/office/drawing/2014/chart" uri="{C3380CC4-5D6E-409C-BE32-E72D297353CC}">
                <c16:uniqueId val="{00000003-171A-4F7D-9D7F-C5A7A6691297}"/>
              </c:ext>
            </c:extLst>
          </c:dPt>
          <c:dPt>
            <c:idx val="2"/>
            <c:invertIfNegative val="0"/>
            <c:bubble3D val="0"/>
            <c:spPr>
              <a:solidFill>
                <a:srgbClr val="9AA8BF"/>
              </a:solidFill>
              <a:effectLst/>
            </c:spPr>
            <c:extLst>
              <c:ext xmlns:c16="http://schemas.microsoft.com/office/drawing/2014/chart" uri="{C3380CC4-5D6E-409C-BE32-E72D297353CC}">
                <c16:uniqueId val="{00000005-171A-4F7D-9D7F-C5A7A6691297}"/>
              </c:ext>
            </c:extLst>
          </c:dPt>
          <c:dPt>
            <c:idx val="3"/>
            <c:invertIfNegative val="0"/>
            <c:bubble3D val="0"/>
            <c:spPr>
              <a:solidFill>
                <a:srgbClr val="9AA8BF"/>
              </a:solidFill>
              <a:effectLst/>
            </c:spPr>
            <c:extLst>
              <c:ext xmlns:c16="http://schemas.microsoft.com/office/drawing/2014/chart" uri="{C3380CC4-5D6E-409C-BE32-E72D297353CC}">
                <c16:uniqueId val="{00000007-171A-4F7D-9D7F-C5A7A6691297}"/>
              </c:ext>
            </c:extLst>
          </c:dPt>
          <c:dPt>
            <c:idx val="4"/>
            <c:invertIfNegative val="0"/>
            <c:bubble3D val="0"/>
            <c:spPr>
              <a:solidFill>
                <a:srgbClr val="E4572E"/>
              </a:solidFill>
              <a:effectLst/>
            </c:spPr>
            <c:extLst>
              <c:ext xmlns:c16="http://schemas.microsoft.com/office/drawing/2014/chart" uri="{C3380CC4-5D6E-409C-BE32-E72D297353CC}">
                <c16:uniqueId val="{00000009-171A-4F7D-9D7F-C5A7A6691297}"/>
              </c:ext>
            </c:extLst>
          </c:dPt>
          <c:dLbls>
            <c:numFmt formatCode="0.0&quot;%&quot;"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1–2×</c:v>
                </c:pt>
                <c:pt idx="2">
                  <c:v>2–3×</c:v>
                </c:pt>
                <c:pt idx="3">
                  <c:v>3–5×</c:v>
                </c:pt>
                <c:pt idx="4">
                  <c:v>&gt;5×</c:v>
                </c:pt>
              </c:strCache>
            </c:strRef>
          </c:cat>
          <c:val>
            <c:numRef>
              <c:f>Sheet1!$B$2:$B$6</c:f>
              <c:numCache>
                <c:formatCode>General</c:formatCode>
                <c:ptCount val="5"/>
                <c:pt idx="0">
                  <c:v>1.3</c:v>
                </c:pt>
                <c:pt idx="1">
                  <c:v>1.6</c:v>
                </c:pt>
                <c:pt idx="2">
                  <c:v>1.9</c:v>
                </c:pt>
                <c:pt idx="3">
                  <c:v>2.2999999999999998</c:v>
                </c:pt>
                <c:pt idx="4">
                  <c:v>11.6</c:v>
                </c:pt>
              </c:numCache>
            </c:numRef>
          </c:val>
          <c:extLst>
            <c:ext xmlns:c16="http://schemas.microsoft.com/office/drawing/2014/chart" uri="{C3380CC4-5D6E-409C-BE32-E72D297353CC}">
              <c16:uniqueId val="{0000000A-171A-4F7D-9D7F-C5A7A669129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C8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4213D"/>
                </a:solidFill>
                <a:latin typeface="+mn-lt"/>
              </a:defRPr>
            </a:pPr>
            <a:r>
              <a:rPr lang="en-GB" sz="1200" b="0" i="0" u="none" strike="noStrike">
                <a:solidFill>
                  <a:srgbClr val="14213D"/>
                </a:solidFill>
                <a:latin typeface="+mn-lt"/>
              </a:rPr>
              <a:t>Fraud rate (%) — highest-risk merchant categories</a:t>
            </a:r>
          </a:p>
        </c:rich>
      </c:tx>
      <c:overlay val="0"/>
    </c:title>
    <c:autoTitleDeleted val="0"/>
    <c:plotArea>
      <c:layout/>
      <c:barChart>
        <c:barDir val="bar"/>
        <c:grouping val="clustered"/>
        <c:varyColors val="0"/>
        <c:ser>
          <c:idx val="0"/>
          <c:order val="0"/>
          <c:tx>
            <c:strRef>
              <c:f>Sheet1!$B$1</c:f>
              <c:strCache>
                <c:ptCount val="1"/>
                <c:pt idx="0">
                  <c:v>Fraud rate %</c:v>
                </c:pt>
              </c:strCache>
            </c:strRef>
          </c:tx>
          <c:spPr>
            <a:solidFill>
              <a:srgbClr val="E4572E"/>
            </a:solidFill>
            <a:effectLst/>
          </c:spPr>
          <c:invertIfNegative val="0"/>
          <c:dLbls>
            <c:numFmt formatCode="0.0&quot;%&quot;"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Insurance</c:v>
                </c:pt>
                <c:pt idx="1">
                  <c:v>P2P Transfer</c:v>
                </c:pt>
                <c:pt idx="2">
                  <c:v>Travel</c:v>
                </c:pt>
                <c:pt idx="3">
                  <c:v>Crypto Exchange</c:v>
                </c:pt>
                <c:pt idx="4">
                  <c:v>Payroll Transfer</c:v>
                </c:pt>
                <c:pt idx="5">
                  <c:v>Wire Transfer</c:v>
                </c:pt>
              </c:strCache>
            </c:strRef>
          </c:cat>
          <c:val>
            <c:numRef>
              <c:f>Sheet1!$B$2:$B$7</c:f>
              <c:numCache>
                <c:formatCode>General</c:formatCode>
                <c:ptCount val="6"/>
                <c:pt idx="0">
                  <c:v>2.2999999999999998</c:v>
                </c:pt>
                <c:pt idx="1">
                  <c:v>2.5</c:v>
                </c:pt>
                <c:pt idx="2">
                  <c:v>2.8</c:v>
                </c:pt>
                <c:pt idx="3">
                  <c:v>5.2</c:v>
                </c:pt>
                <c:pt idx="4">
                  <c:v>5.6</c:v>
                </c:pt>
                <c:pt idx="5">
                  <c:v>7.6</c:v>
                </c:pt>
              </c:numCache>
            </c:numRef>
          </c:val>
          <c:extLst>
            <c:ext xmlns:c16="http://schemas.microsoft.com/office/drawing/2014/chart" uri="{C3380CC4-5D6E-409C-BE32-E72D297353CC}">
              <c16:uniqueId val="{00000000-BA32-4924-AEA4-41168CB30EA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4213D"/>
                </a:solidFill>
                <a:latin typeface="+mn-lt"/>
              </a:defRPr>
            </a:pPr>
            <a:r>
              <a:rPr lang="en-GB" sz="1200" b="0" i="0" u="none" strike="noStrike">
                <a:solidFill>
                  <a:srgbClr val="14213D"/>
                </a:solidFill>
                <a:latin typeface="+mn-lt"/>
              </a:rPr>
              <a:t>Held-out test set (31,500 transactions)</a:t>
            </a:r>
          </a:p>
        </c:rich>
      </c:tx>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9AA8BF"/>
            </a:solidFill>
            <a:effectLst/>
          </c:spPr>
          <c:invertIfNegative val="0"/>
          <c:dLbls>
            <c:numFmt formatCode="0.00" sourceLinked="0"/>
            <c:spPr>
              <a:noFill/>
              <a:ln>
                <a:noFill/>
              </a:ln>
              <a:effectLst/>
            </c:spPr>
            <c:txPr>
              <a:bodyPr/>
              <a:lstStyle/>
              <a:p>
                <a:pPr>
                  <a:defRPr sz="9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Precision</c:v>
                </c:pt>
                <c:pt idx="1">
                  <c:v>Recall</c:v>
                </c:pt>
                <c:pt idx="2">
                  <c:v>F1</c:v>
                </c:pt>
                <c:pt idx="3">
                  <c:v>ROC-AUC</c:v>
                </c:pt>
              </c:strCache>
            </c:strRef>
          </c:cat>
          <c:val>
            <c:numRef>
              <c:f>Sheet1!$B$2:$B$5</c:f>
              <c:numCache>
                <c:formatCode>General</c:formatCode>
                <c:ptCount val="4"/>
                <c:pt idx="0">
                  <c:v>0.38500000000000001</c:v>
                </c:pt>
                <c:pt idx="1">
                  <c:v>0.8</c:v>
                </c:pt>
                <c:pt idx="2">
                  <c:v>0.51900000000000002</c:v>
                </c:pt>
                <c:pt idx="3">
                  <c:v>0.93400000000000005</c:v>
                </c:pt>
              </c:numCache>
            </c:numRef>
          </c:val>
          <c:extLst>
            <c:ext xmlns:c16="http://schemas.microsoft.com/office/drawing/2014/chart" uri="{C3380CC4-5D6E-409C-BE32-E72D297353CC}">
              <c16:uniqueId val="{00000000-4BCF-4F2D-BB54-A3D959C6C520}"/>
            </c:ext>
          </c:extLst>
        </c:ser>
        <c:ser>
          <c:idx val="1"/>
          <c:order val="1"/>
          <c:tx>
            <c:strRef>
              <c:f>Sheet1!$C$1</c:f>
              <c:strCache>
                <c:ptCount val="1"/>
                <c:pt idx="0">
                  <c:v>Random Forest</c:v>
                </c:pt>
              </c:strCache>
            </c:strRef>
          </c:tx>
          <c:spPr>
            <a:solidFill>
              <a:srgbClr val="E4572E"/>
            </a:solidFill>
            <a:effectLst/>
          </c:spPr>
          <c:invertIfNegative val="0"/>
          <c:dLbls>
            <c:numFmt formatCode="0.00" sourceLinked="0"/>
            <c:spPr>
              <a:noFill/>
              <a:ln>
                <a:noFill/>
              </a:ln>
              <a:effectLst/>
            </c:spPr>
            <c:txPr>
              <a:bodyPr/>
              <a:lstStyle/>
              <a:p>
                <a:pPr>
                  <a:defRPr sz="9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Precision</c:v>
                </c:pt>
                <c:pt idx="1">
                  <c:v>Recall</c:v>
                </c:pt>
                <c:pt idx="2">
                  <c:v>F1</c:v>
                </c:pt>
                <c:pt idx="3">
                  <c:v>ROC-AUC</c:v>
                </c:pt>
              </c:strCache>
            </c:strRef>
          </c:cat>
          <c:val>
            <c:numRef>
              <c:f>Sheet1!$C$2:$C$5</c:f>
              <c:numCache>
                <c:formatCode>General</c:formatCode>
                <c:ptCount val="4"/>
                <c:pt idx="0">
                  <c:v>0.317</c:v>
                </c:pt>
                <c:pt idx="1">
                  <c:v>0.82799999999999996</c:v>
                </c:pt>
                <c:pt idx="2">
                  <c:v>0.45900000000000002</c:v>
                </c:pt>
                <c:pt idx="3">
                  <c:v>0.93300000000000005</c:v>
                </c:pt>
              </c:numCache>
            </c:numRef>
          </c:val>
          <c:extLst>
            <c:ext xmlns:c16="http://schemas.microsoft.com/office/drawing/2014/chart" uri="{C3380CC4-5D6E-409C-BE32-E72D297353CC}">
              <c16:uniqueId val="{00000001-4BCF-4F2D-BB54-A3D959C6C52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C8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4213D"/>
                </a:solidFill>
                <a:latin typeface="+mn-lt"/>
              </a:defRPr>
            </a:pPr>
            <a:r>
              <a:rPr lang="en-GB" sz="1200" b="0" i="0" u="none" strike="noStrike" dirty="0">
                <a:solidFill>
                  <a:srgbClr val="14213D"/>
                </a:solidFill>
                <a:latin typeface="+mn-lt"/>
              </a:rPr>
              <a:t>Precision (% real fraud) at each recall target</a:t>
            </a:r>
          </a:p>
        </c:rich>
      </c:tx>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9AA8BF"/>
            </a:solidFill>
            <a:effectLst/>
          </c:spPr>
          <c:invertIfNegative val="0"/>
          <c:dLbls>
            <c:numFmt formatCode="0&quot;%&quot;"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70% recall</c:v>
                </c:pt>
                <c:pt idx="1">
                  <c:v>80% recall</c:v>
                </c:pt>
                <c:pt idx="2">
                  <c:v>90% recall</c:v>
                </c:pt>
              </c:strCache>
            </c:strRef>
          </c:cat>
          <c:val>
            <c:numRef>
              <c:f>Sheet1!$B$2:$B$4</c:f>
              <c:numCache>
                <c:formatCode>General</c:formatCode>
                <c:ptCount val="3"/>
                <c:pt idx="0">
                  <c:v>64.900000000000006</c:v>
                </c:pt>
                <c:pt idx="1">
                  <c:v>37.799999999999997</c:v>
                </c:pt>
                <c:pt idx="2">
                  <c:v>10.5</c:v>
                </c:pt>
              </c:numCache>
            </c:numRef>
          </c:val>
          <c:extLst>
            <c:ext xmlns:c16="http://schemas.microsoft.com/office/drawing/2014/chart" uri="{C3380CC4-5D6E-409C-BE32-E72D297353CC}">
              <c16:uniqueId val="{00000000-DD3E-4DCE-9FFF-86309F437F78}"/>
            </c:ext>
          </c:extLst>
        </c:ser>
        <c:ser>
          <c:idx val="1"/>
          <c:order val="1"/>
          <c:tx>
            <c:strRef>
              <c:f>Sheet1!$C$1</c:f>
              <c:strCache>
                <c:ptCount val="1"/>
                <c:pt idx="0">
                  <c:v>Random Forest</c:v>
                </c:pt>
              </c:strCache>
            </c:strRef>
          </c:tx>
          <c:spPr>
            <a:solidFill>
              <a:srgbClr val="E4572E"/>
            </a:solidFill>
            <a:effectLst/>
          </c:spPr>
          <c:invertIfNegative val="0"/>
          <c:dLbls>
            <c:numFmt formatCode="0&quot;%&quot;"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70% recall</c:v>
                </c:pt>
                <c:pt idx="1">
                  <c:v>80% recall</c:v>
                </c:pt>
                <c:pt idx="2">
                  <c:v>90% recall</c:v>
                </c:pt>
              </c:strCache>
            </c:strRef>
          </c:cat>
          <c:val>
            <c:numRef>
              <c:f>Sheet1!$C$2:$C$4</c:f>
              <c:numCache>
                <c:formatCode>General</c:formatCode>
                <c:ptCount val="3"/>
                <c:pt idx="0">
                  <c:v>57</c:v>
                </c:pt>
                <c:pt idx="1">
                  <c:v>38.5</c:v>
                </c:pt>
                <c:pt idx="2">
                  <c:v>13.4</c:v>
                </c:pt>
              </c:numCache>
            </c:numRef>
          </c:val>
          <c:extLst>
            <c:ext xmlns:c16="http://schemas.microsoft.com/office/drawing/2014/chart" uri="{C3380CC4-5D6E-409C-BE32-E72D297353CC}">
              <c16:uniqueId val="{00000001-DD3E-4DCE-9FFF-86309F437F7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C8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4213D"/>
                </a:solidFill>
                <a:latin typeface="+mn-lt"/>
              </a:defRPr>
            </a:pPr>
            <a:r>
              <a:rPr lang="en-GB" sz="1200" b="0" i="0" u="none" strike="noStrike">
                <a:solidFill>
                  <a:srgbClr val="14213D"/>
                </a:solidFill>
                <a:latin typeface="+mn-lt"/>
              </a:rPr>
              <a:t>Random Forest feature importance (% of decision weight)</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9AA8BF"/>
            </a:solidFill>
            <a:effectLst/>
          </c:spPr>
          <c:invertIfNegative val="0"/>
          <c:dPt>
            <c:idx val="0"/>
            <c:invertIfNegative val="0"/>
            <c:bubble3D val="0"/>
            <c:spPr>
              <a:solidFill>
                <a:srgbClr val="9AA8BF"/>
              </a:solidFill>
              <a:effectLst/>
            </c:spPr>
            <c:extLst>
              <c:ext xmlns:c16="http://schemas.microsoft.com/office/drawing/2014/chart" uri="{C3380CC4-5D6E-409C-BE32-E72D297353CC}">
                <c16:uniqueId val="{00000001-76E0-4386-A7BE-CCF7E2021D76}"/>
              </c:ext>
            </c:extLst>
          </c:dPt>
          <c:dPt>
            <c:idx val="1"/>
            <c:invertIfNegative val="0"/>
            <c:bubble3D val="0"/>
            <c:spPr>
              <a:solidFill>
                <a:srgbClr val="9AA8BF"/>
              </a:solidFill>
              <a:effectLst/>
            </c:spPr>
            <c:extLst>
              <c:ext xmlns:c16="http://schemas.microsoft.com/office/drawing/2014/chart" uri="{C3380CC4-5D6E-409C-BE32-E72D297353CC}">
                <c16:uniqueId val="{00000003-76E0-4386-A7BE-CCF7E2021D76}"/>
              </c:ext>
            </c:extLst>
          </c:dPt>
          <c:dPt>
            <c:idx val="2"/>
            <c:invertIfNegative val="0"/>
            <c:bubble3D val="0"/>
            <c:spPr>
              <a:solidFill>
                <a:srgbClr val="9AA8BF"/>
              </a:solidFill>
              <a:effectLst/>
            </c:spPr>
            <c:extLst>
              <c:ext xmlns:c16="http://schemas.microsoft.com/office/drawing/2014/chart" uri="{C3380CC4-5D6E-409C-BE32-E72D297353CC}">
                <c16:uniqueId val="{00000005-76E0-4386-A7BE-CCF7E2021D76}"/>
              </c:ext>
            </c:extLst>
          </c:dPt>
          <c:dPt>
            <c:idx val="3"/>
            <c:invertIfNegative val="0"/>
            <c:bubble3D val="0"/>
            <c:spPr>
              <a:solidFill>
                <a:srgbClr val="9AA8BF"/>
              </a:solidFill>
              <a:effectLst/>
            </c:spPr>
            <c:extLst>
              <c:ext xmlns:c16="http://schemas.microsoft.com/office/drawing/2014/chart" uri="{C3380CC4-5D6E-409C-BE32-E72D297353CC}">
                <c16:uniqueId val="{00000007-76E0-4386-A7BE-CCF7E2021D76}"/>
              </c:ext>
            </c:extLst>
          </c:dPt>
          <c:dPt>
            <c:idx val="4"/>
            <c:invertIfNegative val="0"/>
            <c:bubble3D val="0"/>
            <c:spPr>
              <a:solidFill>
                <a:srgbClr val="9AA8BF"/>
              </a:solidFill>
              <a:effectLst/>
            </c:spPr>
            <c:extLst>
              <c:ext xmlns:c16="http://schemas.microsoft.com/office/drawing/2014/chart" uri="{C3380CC4-5D6E-409C-BE32-E72D297353CC}">
                <c16:uniqueId val="{00000009-76E0-4386-A7BE-CCF7E2021D76}"/>
              </c:ext>
            </c:extLst>
          </c:dPt>
          <c:dPt>
            <c:idx val="5"/>
            <c:invertIfNegative val="0"/>
            <c:bubble3D val="0"/>
            <c:spPr>
              <a:solidFill>
                <a:srgbClr val="E4572E"/>
              </a:solidFill>
              <a:effectLst/>
            </c:spPr>
            <c:extLst>
              <c:ext xmlns:c16="http://schemas.microsoft.com/office/drawing/2014/chart" uri="{C3380CC4-5D6E-409C-BE32-E72D297353CC}">
                <c16:uniqueId val="{0000000B-76E0-4386-A7BE-CCF7E2021D76}"/>
              </c:ext>
            </c:extLst>
          </c:dPt>
          <c:dPt>
            <c:idx val="6"/>
            <c:invertIfNegative val="0"/>
            <c:bubble3D val="0"/>
            <c:spPr>
              <a:solidFill>
                <a:srgbClr val="E4572E"/>
              </a:solidFill>
              <a:effectLst/>
            </c:spPr>
            <c:extLst>
              <c:ext xmlns:c16="http://schemas.microsoft.com/office/drawing/2014/chart" uri="{C3380CC4-5D6E-409C-BE32-E72D297353CC}">
                <c16:uniqueId val="{0000000D-76E0-4386-A7BE-CCF7E2021D76}"/>
              </c:ext>
            </c:extLst>
          </c:dPt>
          <c:dLbls>
            <c:numFmt formatCode="0.0&quot;%&quot;"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Hour of day</c:v>
                </c:pt>
                <c:pt idx="1">
                  <c:v>Account age</c:v>
                </c:pt>
                <c:pt idx="2">
                  <c:v>Wire transfer</c:v>
                </c:pt>
                <c:pt idx="3">
                  <c:v>Payroll transfer</c:v>
                </c:pt>
                <c:pt idx="4">
                  <c:v>Amount</c:v>
                </c:pt>
                <c:pt idx="5">
                  <c:v>Amount ÷ account avg</c:v>
                </c:pt>
                <c:pt idx="6">
                  <c:v>Velocity (1h)</c:v>
                </c:pt>
              </c:strCache>
            </c:strRef>
          </c:cat>
          <c:val>
            <c:numRef>
              <c:f>Sheet1!$B$2:$B$8</c:f>
              <c:numCache>
                <c:formatCode>General</c:formatCode>
                <c:ptCount val="7"/>
                <c:pt idx="0">
                  <c:v>1.6</c:v>
                </c:pt>
                <c:pt idx="1">
                  <c:v>2.2000000000000002</c:v>
                </c:pt>
                <c:pt idx="2">
                  <c:v>2.2999999999999998</c:v>
                </c:pt>
                <c:pt idx="3">
                  <c:v>3</c:v>
                </c:pt>
                <c:pt idx="4">
                  <c:v>7.6</c:v>
                </c:pt>
                <c:pt idx="5">
                  <c:v>35.799999999999997</c:v>
                </c:pt>
                <c:pt idx="6">
                  <c:v>40</c:v>
                </c:pt>
              </c:numCache>
            </c:numRef>
          </c:val>
          <c:extLst>
            <c:ext xmlns:c16="http://schemas.microsoft.com/office/drawing/2014/chart" uri="{C3380CC4-5D6E-409C-BE32-E72D297353CC}">
              <c16:uniqueId val="{0000000E-76E0-4386-A7BE-CCF7E2021D7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145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I am here to present our work on fraud detection for Finlora.
In short, we have built a system that gives every payment a fraud score. We tested it on 126k transactions, and it is already running as a working tool.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Finlora Finance Flow is a fintech company. 
Today, many small businesses and individuals juggle several apps. One for payments, one for budgeting, another for compliance. Finlora brings all of that together. On the right you can see what the platform does: payments, real-time monitoring, balance tracking, budgeting, compliance and automated workflows.
We serve both individuals and businesses, mainly in Nigeria, the United States and the United Kingdom. Customers can pay through the mobile app, the website, card payments, our API and USSD.
This is strength. But it also creates a risk. Because we hold payments, balances and identity data in one place, we are a more attractive target for fraudsters.
So let us look at how we protect the platform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Finlora runs 24hrs hours a day, seven days a week, across many channels. 
Fraud also looks different depending on the type of account, the level of identity checks, the channel and the type of merchant.
But today, our fraud monitoring uses fixed rules. For example, flag any payment above a certain amount. These rules look at each payment on its own, without knowing the customer's history. Every alert looks equally urgent. And as the business grows, the amount of checking grows with it.
This creates a very specific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three sides.
One: some fraud stays below the fixed limits, so it goes through. That means direct financial losses.
Two: the same rules block honest customers. A business paying its staff, or sending a large transfer, can be stopped or delayed. For a company that wants to be trusted with people's money, this is very damaging.
Three: every alert looks the same, so the team cannot focus on the most dangerous cases first.
The root cause is the same in all three cases. The rules do not know what is normal for each customer.
So here is what we set out to 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whole project at a glance, in six steps.
First, we defined the problem: instead of asking "is this fraud, yes or no?", we ask "how likely is this to be fraud?"
Second, we cleaned the data and combined the two tables.
Third, we explored the data to find which behaviours point to fraud.
Fourth, we turned those behaviours into inputs for the model.
Fifth, we trained two models and tested them on data they had never seen.
And sixth, we put the model into a simple web tool that analysts can use.
To be clear about the boundaries: this is a prototype. It is not yet connected to our live payment system, and it does not block payments automatically. Those are the next steps.
Here are the specific objectives we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aim was to give every payment a fraud score that we can explain.
We had four objectives.
One: measure. Give each payment a probability of being fraud.
Two: analyse. Find out which customer behaviours really separate fraud from normal activity.
Three: predict. Build two models. A simple one that is easy to explain, and a more powerful one, and test both fairly.
Four: apply. Put the results in </a:t>
            </a:r>
            <a:r>
              <a:rPr lang="en-US" dirty="0" err="1"/>
              <a:t>streamlit</a:t>
            </a:r>
            <a:r>
              <a:rPr lang="en-US" dirty="0"/>
              <a:t>.
And we defined success in business terms: catch more fraud than the current rules, keep the number of false alarms manageable, and always be able to explain why a payment was flagged.
Now let me show you the data we worked with.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with Finlora's own data, covering 19 months, from February 2025 to August 2026.
There are 126k transactions from 7200 accounts. About two-thirds are individual accounts, and one-third are business accounts.
Of all those transactions, 3352 were confirmed as fraud. That is just 2.66%.
The data came in two tables. The transactions table tells us about each payment: the amount, the time, the channel, the type of merchant, the country, the device, and whether it was fraud. The accounts table tells us about each customer: the account type, the level of identity checks, and their usual spending.
We joined the two tables using the account number. That is important, because it lets us compare every payment to that customer's own history.
Before we could use it, though, the data needed cleaning.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fixes.
About 28k payments had no merchant name. But almost all of them were person-to-person or salary transfers, which naturally have no merchant. So we labelled them clearly, separately from the 778 that were genuinely missing.
14k payments had no device recorded. Instead of hiding that, we kept it as a signal, because a missing device can itself be suspicious.
And 291 payments had a negative amount. So we corrected them.
The result: we started with 126k rows, and we finished with 126k rows. The fraud rate stayed exactly the same, which proves we did not lose any important information.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things on this slide.
On the left: fraud is rare. Only about 2 or 3 payments in every 100. This matters, because a system that always says "not fraud" would be right 97% of the time, and it would catch nothing. So we do not judge the model on accuracy. We judge it on how much fraud it catches, and how many false alarms it creates.
On the right is our most important finding. When a customer has made no other payment in the past hour, the fraud rate is under 2%. But as soon as there is even one other payment in that hour, the fraud rate jumps to almost 90% percent or more.
In simple terms: fraudsters move fast. They try to take money out quickly before anyone notices.
The second strong signal is about how much someone spends, compared with their normal spending.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why fixed amount limits do not work.
If you only look at the amount in pounds, fraud and normal payments look very similar. There is no single amount that separates them.
But when we compare each payment to that customer's own average, the picture becomes very clear. Payments at a customer's normal level have a fraud rate of about 1%. Payments more than five times their normal level have a fraud rate of almost 12%. That is about nine times higher.
On average, a fraudulent payment is around six times bigger than what that customer usually spends.
This is exactly what our current rules cannot see, because they do not know what is normal for each customer.
We also found that fraud is concentrated in certain areas.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is not spread evenly across the business.
On the left, by type of payment: wire transfers have the highest fraud rate, at 7.6%, almost three times the average. They are followed by salary transfers and crypto exchanges. These are large payments that are hard to reverse, so it makes sense that fraudsters target them.
On the right: business accounts have twice the fraud rate of personal accounts. Accounts with only basic identity checks are riskier than fully verified ones. A payment from a new device doubles the risk. And payments from abroad add a little more.
So how did we turn these findings into a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model works, from left to right.
We feed it two kinds of information. First, customer behaviour: how many payments in the past hour, how big the payment is compared with normal, whether the device is new, and whether the payment is from abroad. Second, context: the type of account, the level of identity checks, the type of merchant, and the channel.
We then trained two models: logistic regression and random forest.
At the end, each payment gets a fraud score between zero and 100%.
We tested both models on 31500 payments that they had never seen before. 
So, how well did they 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scored 0.93 on the main measure. That means they are very good at ranking fraud above normal payments.
On the right, you can see the results for the random forest. Out of 838 fraud cases in the test, it caught 694. That is 83%. The cost was about 29k honest payments sent for a check, which is about 5% of normal payments.
Logistic regression is a little more precise, but it catches slightly less fraud.
The two models are very close. We recommend the random forest because it catches more fraud, and we keep the simpler model as a check that is easy to explain to auditors.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model becomes a management tool.
Every extra fraud you want to catch means a few more payments to check. This chart shows that trade-off.
If we aim to catch 70% of fraud, about 3 in every 5 alerts are real fraud. The team's time is used very well.
If we aim for 80%, about 2 in 5 alerts are real fraud.
If we push to 90%, only about 1 alert in 8 is real fraud, and the number of checks grows quickly.
There is no single right answer. We recommend starting at eighty percent, which is what you will see in the live tool.
Before the demo, what does the model actually pay attention 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the model which information it relies on most.
Two signals clearly lead. The number of payments in the past hour, and the size of the payment compared with the customer's normal spending. Together, they make up about three-quarters of the model's decisions.
This matches exactly what we saw in EDA. That gives us confidence that the model has learned real behaviour, not random patterns.
Now let me show you the tool itself.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 tool we built, running on the trained model.
At the top, you can see the model's key results, which match what I showed you earlier.
In this test, the tool checked 25k payments. Using the 80% setting, it flagged 1429 payments for review. That is just 5.7% of all payments.
And inside that list, there were 520 636 fraud cases. That means 82% of the fraud was caught.
Put simply: we check about one payment in 18, and stop 4 frauds out of 5.
On the left, the team can switch between 70, 80, and 90% with one click, and the list updates straight away.
And the list is ranked, with a reason for every alert.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 list itself, sorted from the highest risk down.
The top cases have fraud scores of 94 to 96%. And look at the pattern: they are almost all business accounts sending wire transfers, each with another payment in the previous hour. That is exactly the combination our analysis pointed to. So the tool is putting the most dangerous cases at the top.
So, what does all this mean for the business?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main benefits for Finlora.
First, lower fraud losses. The model catches most fraud, including the subtle cases that slip under our current limits.
Second, happier customers. Because the model knows what is normal for each customer, a business paying its staff will not be blocked just because the amount is large. That protects trust in our platform.
Third, better governance. Every alert has a reason, and the level of strictness is a clear business decision. That is much easier to explain to auditors and regulators.
And finally, the clean data we built can be reused for future projects, such as credit risk or customer retention.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First, fraud at Finlora is about behaviour. Fast bursts of payments, and payments far above a customer's normal spending, explain about three-quarters of the model. That is exactly why fixed limits fail.
Second, a model built on that behaviour works. It scores zero point nine three, and in the live tool it catches four frauds out of five while checking only about six percent of payments.
Third, it puts the business in control. The risk team decides how strict to be, and every alert comes with a reason.
And fourth, this is real. A working tool exists today, and the next step is a safe trial alongside our current rules.
Thank you very much for your attention.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548640" y="2697480"/>
            <a:ext cx="8046720" cy="82296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8046720"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2651760"/>
            <a:ext cx="8046720" cy="548640"/>
          </a:xfrm>
          <a:prstGeom prst="rect">
            <a:avLst/>
          </a:prstGeom>
          <a:noFill/>
          <a:ln/>
        </p:spPr>
        <p:txBody>
          <a:bodyPr wrap="square" rtlCol="0"/>
          <a:lstStyle>
            <a:lvl1pPr marL="0" indent="0">
              <a:buNone/>
              <a:defRPr lang="en-US" sz="1500" dirty="0">
                <a:solidFill>
                  <a:schemeClr val="accent5"/>
                </a:solidFill>
              </a:defRPr>
            </a:lvl1pPr>
          </a:lstStyle>
          <a:p>
            <a:pPr marL="0" indent="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rtlCol="0"/>
          <a:lstStyle>
            <a:lvl1pPr marL="0" indent="0" algn="l">
              <a:buNone/>
              <a:defRPr lang="en-US" sz="2000" b="1" dirty="0">
                <a:solidFill>
                  <a:schemeClr val="tx1"/>
                </a:solidFill>
              </a:defRPr>
            </a:lvl1pPr>
          </a:lstStyle>
          <a:p>
            <a:pPr marL="0" indent="0" algn="l">
              <a:buNone/>
            </a:pPr>
            <a:endParaRPr lang="en-US" sz="2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chemeClr val="accent4"/>
                </a:solidFill>
              </a:rPr>
              <a:t>Finlora · Transaction Fraud Risk Scoring</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nchor="b"/>
          <a:lstStyle/>
          <a:p>
            <a:pPr algn="ctr"/>
            <a:r>
              <a:rPr lang="en-GB" dirty="0" err="1"/>
              <a:t>Finlora</a:t>
            </a:r>
            <a:r>
              <a:rPr lang="en-GB" dirty="0"/>
              <a:t> Fraud Detection and </a:t>
            </a:r>
            <a:br>
              <a:rPr lang="en-GB" dirty="0"/>
            </a:br>
            <a:r>
              <a:rPr lang="en-GB" dirty="0"/>
              <a:t>Risk Scoring</a:t>
            </a:r>
            <a:endParaRPr lang="en-US" dirty="0"/>
          </a:p>
        </p:txBody>
      </p:sp>
      <p:sp>
        <p:nvSpPr>
          <p:cNvPr id="3" name="Text 0"/>
          <p:cNvSpPr>
            <a:spLocks noGrp="1"/>
          </p:cNvSpPr>
          <p:nvPr>
            <p:ph type="body" idx="101" hasCustomPrompt="1"/>
          </p:nvPr>
        </p:nvSpPr>
        <p:spPr>
          <a:xfrm>
            <a:off x="548640" y="2988129"/>
            <a:ext cx="8046720" cy="822960"/>
          </a:xfrm>
          <a:prstGeom prst="rect">
            <a:avLst/>
          </a:prstGeom>
          <a:noFill/>
          <a:ln/>
        </p:spPr>
        <p:txBody>
          <a:bodyPr wrap="square" rtlCol="0" anchor="t"/>
          <a:lstStyle/>
          <a:p>
            <a:pPr algn="ctr"/>
            <a:r>
              <a:rPr lang="en-US" sz="1600" dirty="0">
                <a:solidFill>
                  <a:schemeClr val="accent5"/>
                </a:solidFill>
              </a:rPr>
              <a:t>Machine-learning </a:t>
            </a:r>
            <a:r>
              <a:rPr lang="en-US" dirty="0"/>
              <a:t>· </a:t>
            </a:r>
            <a:r>
              <a:rPr lang="en-US" sz="1600" dirty="0" err="1">
                <a:solidFill>
                  <a:schemeClr val="accent5"/>
                </a:solidFill>
              </a:rPr>
              <a:t>Finlora</a:t>
            </a:r>
            <a:r>
              <a:rPr lang="en-US" sz="1600" dirty="0">
                <a:solidFill>
                  <a:schemeClr val="accent5"/>
                </a:solidFill>
              </a:rPr>
              <a:t> Finance Flow  </a:t>
            </a:r>
          </a:p>
        </p:txBody>
      </p:sp>
      <p:sp>
        <p:nvSpPr>
          <p:cNvPr id="4" name="Text 2"/>
          <p:cNvSpPr txBox="1"/>
          <p:nvPr/>
        </p:nvSpPr>
        <p:spPr>
          <a:xfrm>
            <a:off x="548640" y="4206240"/>
            <a:ext cx="8046720" cy="365760"/>
          </a:xfrm>
          <a:prstGeom prst="rect">
            <a:avLst/>
          </a:prstGeom>
          <a:noFill/>
          <a:ln/>
        </p:spPr>
        <p:txBody>
          <a:bodyPr wrap="square" lIns="0" tIns="0" rIns="0" bIns="0" rtlCol="0" anchor="t"/>
          <a:lstStyle/>
          <a:p>
            <a:pPr marL="0" indent="0" algn="ctr">
              <a:buNone/>
            </a:pPr>
            <a:r>
              <a:rPr lang="en-US" sz="1200" dirty="0">
                <a:solidFill>
                  <a:schemeClr val="accent3"/>
                </a:solidFill>
              </a:rPr>
              <a:t>Presenter: Marc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Who is </a:t>
            </a:r>
            <a:r>
              <a:rPr lang="en-US" sz="2000" b="1" dirty="0" err="1">
                <a:solidFill>
                  <a:schemeClr val="tx1"/>
                </a:solidFill>
              </a:rPr>
              <a:t>Finlora</a:t>
            </a:r>
            <a:endParaRPr lang="en-US" sz="2000" dirty="0"/>
          </a:p>
        </p:txBody>
      </p:sp>
      <p:sp>
        <p:nvSpPr>
          <p:cNvPr id="3" name="Text 1"/>
          <p:cNvSpPr txBox="1"/>
          <p:nvPr/>
        </p:nvSpPr>
        <p:spPr>
          <a:xfrm>
            <a:off x="457200" y="1005840"/>
            <a:ext cx="3931920" cy="1234440"/>
          </a:xfrm>
          <a:prstGeom prst="rect">
            <a:avLst/>
          </a:prstGeom>
          <a:noFill/>
          <a:ln/>
        </p:spPr>
        <p:txBody>
          <a:bodyPr wrap="square" lIns="0" tIns="0" rIns="0" bIns="0" rtlCol="0" anchor="t"/>
          <a:lstStyle/>
          <a:p>
            <a:pPr marL="0" indent="0">
              <a:buNone/>
            </a:pPr>
            <a:r>
              <a:rPr lang="en-US" sz="1350" dirty="0">
                <a:solidFill>
                  <a:schemeClr val="tx1"/>
                </a:solidFill>
              </a:rPr>
              <a:t>Finlora Finance Flow is a growth-stage fintech that gives individuals and businesses a single financial command </a:t>
            </a:r>
            <a:r>
              <a:rPr lang="en-US" sz="1350" dirty="0" err="1">
                <a:solidFill>
                  <a:schemeClr val="tx1"/>
                </a:solidFill>
              </a:rPr>
              <a:t>centre</a:t>
            </a:r>
            <a:r>
              <a:rPr lang="en-US" sz="1350" dirty="0">
                <a:solidFill>
                  <a:schemeClr val="tx1"/>
                </a:solidFill>
              </a:rPr>
              <a:t>.</a:t>
            </a:r>
            <a:endParaRPr lang="en-US" sz="1350" dirty="0"/>
          </a:p>
        </p:txBody>
      </p:sp>
      <p:sp>
        <p:nvSpPr>
          <p:cNvPr id="4" name="Text 2"/>
          <p:cNvSpPr txBox="1"/>
          <p:nvPr/>
        </p:nvSpPr>
        <p:spPr>
          <a:xfrm>
            <a:off x="457200" y="2377440"/>
            <a:ext cx="1097280" cy="457200"/>
          </a:xfrm>
          <a:prstGeom prst="rect">
            <a:avLst/>
          </a:prstGeom>
          <a:noFill/>
          <a:ln/>
        </p:spPr>
        <p:txBody>
          <a:bodyPr wrap="square" lIns="0" tIns="0" rIns="0" bIns="0" rtlCol="0" anchor="ctr"/>
          <a:lstStyle/>
          <a:p>
            <a:pPr marL="0" indent="0">
              <a:buNone/>
            </a:pPr>
            <a:r>
              <a:rPr lang="en-US" sz="1250" b="1" dirty="0">
                <a:solidFill>
                  <a:schemeClr val="accent1"/>
                </a:solidFill>
              </a:rPr>
              <a:t>Markets</a:t>
            </a:r>
            <a:endParaRPr lang="en-US" sz="1250" dirty="0"/>
          </a:p>
        </p:txBody>
      </p:sp>
      <p:sp>
        <p:nvSpPr>
          <p:cNvPr id="5" name="Text 3"/>
          <p:cNvSpPr txBox="1"/>
          <p:nvPr/>
        </p:nvSpPr>
        <p:spPr>
          <a:xfrm>
            <a:off x="1554480" y="2377440"/>
            <a:ext cx="2834640" cy="457200"/>
          </a:xfrm>
          <a:prstGeom prst="rect">
            <a:avLst/>
          </a:prstGeom>
          <a:noFill/>
          <a:ln/>
        </p:spPr>
        <p:txBody>
          <a:bodyPr wrap="square" lIns="0" tIns="0" rIns="0" bIns="0" rtlCol="0" anchor="ctr"/>
          <a:lstStyle/>
          <a:p>
            <a:pPr marL="0" indent="0">
              <a:buNone/>
            </a:pPr>
            <a:r>
              <a:rPr lang="en-US" sz="1200" dirty="0">
                <a:solidFill>
                  <a:schemeClr val="accent4"/>
                </a:solidFill>
              </a:rPr>
              <a:t>Nigeria · United States · United Kingdom (+ France, Germany)</a:t>
            </a:r>
            <a:endParaRPr lang="en-US" sz="1200" dirty="0"/>
          </a:p>
        </p:txBody>
      </p:sp>
      <p:sp>
        <p:nvSpPr>
          <p:cNvPr id="6" name="Text 4"/>
          <p:cNvSpPr txBox="1"/>
          <p:nvPr/>
        </p:nvSpPr>
        <p:spPr>
          <a:xfrm>
            <a:off x="457200" y="2926080"/>
            <a:ext cx="1097280" cy="457200"/>
          </a:xfrm>
          <a:prstGeom prst="rect">
            <a:avLst/>
          </a:prstGeom>
          <a:noFill/>
          <a:ln/>
        </p:spPr>
        <p:txBody>
          <a:bodyPr wrap="square" lIns="0" tIns="0" rIns="0" bIns="0" rtlCol="0" anchor="ctr"/>
          <a:lstStyle/>
          <a:p>
            <a:pPr marL="0" indent="0">
              <a:buNone/>
            </a:pPr>
            <a:r>
              <a:rPr lang="en-US" sz="1250" b="1" dirty="0">
                <a:solidFill>
                  <a:schemeClr val="accent1"/>
                </a:solidFill>
              </a:rPr>
              <a:t>Customers</a:t>
            </a:r>
            <a:endParaRPr lang="en-US" sz="1250" dirty="0"/>
          </a:p>
        </p:txBody>
      </p:sp>
      <p:sp>
        <p:nvSpPr>
          <p:cNvPr id="7" name="Text 5"/>
          <p:cNvSpPr txBox="1"/>
          <p:nvPr/>
        </p:nvSpPr>
        <p:spPr>
          <a:xfrm>
            <a:off x="1554480" y="2926080"/>
            <a:ext cx="2834640" cy="457200"/>
          </a:xfrm>
          <a:prstGeom prst="rect">
            <a:avLst/>
          </a:prstGeom>
          <a:noFill/>
          <a:ln/>
        </p:spPr>
        <p:txBody>
          <a:bodyPr wrap="square" lIns="0" tIns="0" rIns="0" bIns="0" rtlCol="0" anchor="ctr"/>
          <a:lstStyle/>
          <a:p>
            <a:pPr marL="0" indent="0">
              <a:buNone/>
            </a:pPr>
            <a:r>
              <a:rPr lang="en-US" sz="1200" dirty="0">
                <a:solidFill>
                  <a:schemeClr val="accent4"/>
                </a:solidFill>
              </a:rPr>
              <a:t>Individuals and businesses, across three KYC tiers</a:t>
            </a:r>
            <a:endParaRPr lang="en-US" sz="1200" dirty="0"/>
          </a:p>
        </p:txBody>
      </p:sp>
      <p:sp>
        <p:nvSpPr>
          <p:cNvPr id="8" name="Text 6"/>
          <p:cNvSpPr txBox="1"/>
          <p:nvPr/>
        </p:nvSpPr>
        <p:spPr>
          <a:xfrm>
            <a:off x="457200" y="3474720"/>
            <a:ext cx="1097280" cy="457200"/>
          </a:xfrm>
          <a:prstGeom prst="rect">
            <a:avLst/>
          </a:prstGeom>
          <a:noFill/>
          <a:ln/>
        </p:spPr>
        <p:txBody>
          <a:bodyPr wrap="square" lIns="0" tIns="0" rIns="0" bIns="0" rtlCol="0" anchor="ctr"/>
          <a:lstStyle/>
          <a:p>
            <a:pPr marL="0" indent="0">
              <a:buNone/>
            </a:pPr>
            <a:r>
              <a:rPr lang="en-US" sz="1250" b="1" dirty="0">
                <a:solidFill>
                  <a:schemeClr val="accent1"/>
                </a:solidFill>
              </a:rPr>
              <a:t>Channels</a:t>
            </a:r>
            <a:endParaRPr lang="en-US" sz="1250" dirty="0"/>
          </a:p>
        </p:txBody>
      </p:sp>
      <p:sp>
        <p:nvSpPr>
          <p:cNvPr id="9" name="Text 7"/>
          <p:cNvSpPr txBox="1"/>
          <p:nvPr/>
        </p:nvSpPr>
        <p:spPr>
          <a:xfrm>
            <a:off x="1554480" y="3474720"/>
            <a:ext cx="2834640" cy="457200"/>
          </a:xfrm>
          <a:prstGeom prst="rect">
            <a:avLst/>
          </a:prstGeom>
          <a:noFill/>
          <a:ln/>
        </p:spPr>
        <p:txBody>
          <a:bodyPr wrap="square" lIns="0" tIns="0" rIns="0" bIns="0" rtlCol="0" anchor="ctr"/>
          <a:lstStyle/>
          <a:p>
            <a:pPr marL="0" indent="0">
              <a:buNone/>
            </a:pPr>
            <a:r>
              <a:rPr lang="en-US" sz="1200" dirty="0">
                <a:solidFill>
                  <a:schemeClr val="accent4"/>
                </a:solidFill>
              </a:rPr>
              <a:t>Mobile · Web · API · Card present · Card not present · USSD</a:t>
            </a:r>
            <a:endParaRPr lang="en-US" sz="1200" dirty="0"/>
          </a:p>
        </p:txBody>
      </p:sp>
      <p:sp>
        <p:nvSpPr>
          <p:cNvPr id="10" name="card"/>
          <p:cNvSpPr/>
          <p:nvPr/>
        </p:nvSpPr>
        <p:spPr>
          <a:xfrm>
            <a:off x="4754880" y="1005840"/>
            <a:ext cx="1874520" cy="804672"/>
          </a:xfrm>
          <a:prstGeom prst="roundRect">
            <a:avLst>
              <a:gd name="adj" fmla="val 9091"/>
            </a:avLst>
          </a:prstGeom>
          <a:solidFill>
            <a:schemeClr val="bg2"/>
          </a:solidFill>
          <a:ln/>
        </p:spPr>
        <p:txBody>
          <a:bodyPr/>
          <a:lstStyle/>
          <a:p>
            <a:endParaRPr lang="en-GB"/>
          </a:p>
        </p:txBody>
      </p:sp>
      <p:sp>
        <p:nvSpPr>
          <p:cNvPr id="11" name="Text 9"/>
          <p:cNvSpPr txBox="1"/>
          <p:nvPr/>
        </p:nvSpPr>
        <p:spPr>
          <a:xfrm>
            <a:off x="4892040" y="1005840"/>
            <a:ext cx="1600200" cy="804672"/>
          </a:xfrm>
          <a:prstGeom prst="rect">
            <a:avLst/>
          </a:prstGeom>
          <a:noFill/>
          <a:ln/>
        </p:spPr>
        <p:txBody>
          <a:bodyPr wrap="square" lIns="0" tIns="0" rIns="0" bIns="0" rtlCol="0" anchor="ctr"/>
          <a:lstStyle/>
          <a:p>
            <a:pPr marL="0" indent="0">
              <a:buNone/>
            </a:pPr>
            <a:r>
              <a:rPr lang="en-US" sz="1250" b="1" dirty="0">
                <a:solidFill>
                  <a:schemeClr val="tx1"/>
                </a:solidFill>
              </a:rPr>
              <a:t>Payment processing</a:t>
            </a:r>
            <a:endParaRPr lang="en-US" sz="1250" dirty="0"/>
          </a:p>
        </p:txBody>
      </p:sp>
      <p:sp>
        <p:nvSpPr>
          <p:cNvPr id="12" name="card"/>
          <p:cNvSpPr/>
          <p:nvPr/>
        </p:nvSpPr>
        <p:spPr>
          <a:xfrm>
            <a:off x="6766560" y="1005840"/>
            <a:ext cx="1874520" cy="804672"/>
          </a:xfrm>
          <a:prstGeom prst="roundRect">
            <a:avLst>
              <a:gd name="adj" fmla="val 9091"/>
            </a:avLst>
          </a:prstGeom>
          <a:solidFill>
            <a:schemeClr val="bg2"/>
          </a:solidFill>
          <a:ln/>
        </p:spPr>
        <p:txBody>
          <a:bodyPr/>
          <a:lstStyle/>
          <a:p>
            <a:endParaRPr lang="en-GB"/>
          </a:p>
        </p:txBody>
      </p:sp>
      <p:sp>
        <p:nvSpPr>
          <p:cNvPr id="13" name="Text 11"/>
          <p:cNvSpPr txBox="1"/>
          <p:nvPr/>
        </p:nvSpPr>
        <p:spPr>
          <a:xfrm>
            <a:off x="6903720" y="1005840"/>
            <a:ext cx="1600200" cy="804672"/>
          </a:xfrm>
          <a:prstGeom prst="rect">
            <a:avLst/>
          </a:prstGeom>
          <a:noFill/>
          <a:ln/>
        </p:spPr>
        <p:txBody>
          <a:bodyPr wrap="square" lIns="0" tIns="0" rIns="0" bIns="0" rtlCol="0" anchor="ctr"/>
          <a:lstStyle/>
          <a:p>
            <a:pPr marL="0" indent="0">
              <a:buNone/>
            </a:pPr>
            <a:r>
              <a:rPr lang="en-US" sz="1250" b="1" dirty="0"/>
              <a:t>Real-time monitoring</a:t>
            </a:r>
            <a:endParaRPr lang="en-US" sz="1250" dirty="0"/>
          </a:p>
        </p:txBody>
      </p:sp>
      <p:sp>
        <p:nvSpPr>
          <p:cNvPr id="14" name="card"/>
          <p:cNvSpPr/>
          <p:nvPr/>
        </p:nvSpPr>
        <p:spPr>
          <a:xfrm>
            <a:off x="4754880" y="1938528"/>
            <a:ext cx="1874520" cy="804672"/>
          </a:xfrm>
          <a:prstGeom prst="roundRect">
            <a:avLst>
              <a:gd name="adj" fmla="val 9091"/>
            </a:avLst>
          </a:prstGeom>
          <a:solidFill>
            <a:schemeClr val="bg2"/>
          </a:solidFill>
          <a:ln/>
        </p:spPr>
        <p:txBody>
          <a:bodyPr/>
          <a:lstStyle/>
          <a:p>
            <a:endParaRPr lang="en-GB"/>
          </a:p>
        </p:txBody>
      </p:sp>
      <p:sp>
        <p:nvSpPr>
          <p:cNvPr id="15" name="Text 13"/>
          <p:cNvSpPr txBox="1"/>
          <p:nvPr/>
        </p:nvSpPr>
        <p:spPr>
          <a:xfrm>
            <a:off x="4892040" y="1938528"/>
            <a:ext cx="1600200" cy="804672"/>
          </a:xfrm>
          <a:prstGeom prst="rect">
            <a:avLst/>
          </a:prstGeom>
          <a:noFill/>
          <a:ln/>
        </p:spPr>
        <p:txBody>
          <a:bodyPr wrap="square" lIns="0" tIns="0" rIns="0" bIns="0" rtlCol="0" anchor="ctr"/>
          <a:lstStyle/>
          <a:p>
            <a:pPr marL="0" indent="0">
              <a:buNone/>
            </a:pPr>
            <a:r>
              <a:rPr lang="en-US" sz="1250" b="1" dirty="0">
                <a:solidFill>
                  <a:schemeClr val="tx1"/>
                </a:solidFill>
              </a:rPr>
              <a:t>Balance &amp; asset tracking</a:t>
            </a:r>
            <a:endParaRPr lang="en-US" sz="1250" dirty="0"/>
          </a:p>
        </p:txBody>
      </p:sp>
      <p:sp>
        <p:nvSpPr>
          <p:cNvPr id="16" name="card"/>
          <p:cNvSpPr/>
          <p:nvPr/>
        </p:nvSpPr>
        <p:spPr>
          <a:xfrm>
            <a:off x="6766560" y="1938528"/>
            <a:ext cx="1874520" cy="804672"/>
          </a:xfrm>
          <a:prstGeom prst="roundRect">
            <a:avLst>
              <a:gd name="adj" fmla="val 9091"/>
            </a:avLst>
          </a:prstGeom>
          <a:solidFill>
            <a:schemeClr val="bg2"/>
          </a:solidFill>
          <a:ln/>
        </p:spPr>
        <p:txBody>
          <a:bodyPr/>
          <a:lstStyle/>
          <a:p>
            <a:endParaRPr lang="en-GB"/>
          </a:p>
        </p:txBody>
      </p:sp>
      <p:sp>
        <p:nvSpPr>
          <p:cNvPr id="17" name="Text 15"/>
          <p:cNvSpPr txBox="1"/>
          <p:nvPr/>
        </p:nvSpPr>
        <p:spPr>
          <a:xfrm>
            <a:off x="6903720" y="1938528"/>
            <a:ext cx="1600200" cy="804672"/>
          </a:xfrm>
          <a:prstGeom prst="rect">
            <a:avLst/>
          </a:prstGeom>
          <a:noFill/>
          <a:ln/>
        </p:spPr>
        <p:txBody>
          <a:bodyPr wrap="square" lIns="0" tIns="0" rIns="0" bIns="0" rtlCol="0" anchor="ctr"/>
          <a:lstStyle/>
          <a:p>
            <a:pPr marL="0" indent="0">
              <a:buNone/>
            </a:pPr>
            <a:r>
              <a:rPr lang="en-US" sz="1250" b="1" dirty="0">
                <a:solidFill>
                  <a:schemeClr val="tx1"/>
                </a:solidFill>
              </a:rPr>
              <a:t>Budgeting &amp; cash flow</a:t>
            </a:r>
            <a:endParaRPr lang="en-US" sz="1250" dirty="0"/>
          </a:p>
        </p:txBody>
      </p:sp>
      <p:sp>
        <p:nvSpPr>
          <p:cNvPr id="18" name="card"/>
          <p:cNvSpPr/>
          <p:nvPr/>
        </p:nvSpPr>
        <p:spPr>
          <a:xfrm>
            <a:off x="4754880" y="2871216"/>
            <a:ext cx="1874520" cy="804672"/>
          </a:xfrm>
          <a:prstGeom prst="roundRect">
            <a:avLst>
              <a:gd name="adj" fmla="val 9091"/>
            </a:avLst>
          </a:prstGeom>
          <a:solidFill>
            <a:schemeClr val="bg2"/>
          </a:solidFill>
          <a:ln/>
        </p:spPr>
        <p:txBody>
          <a:bodyPr/>
          <a:lstStyle/>
          <a:p>
            <a:endParaRPr lang="en-GB"/>
          </a:p>
        </p:txBody>
      </p:sp>
      <p:sp>
        <p:nvSpPr>
          <p:cNvPr id="19" name="Text 17"/>
          <p:cNvSpPr txBox="1"/>
          <p:nvPr/>
        </p:nvSpPr>
        <p:spPr>
          <a:xfrm>
            <a:off x="4892040" y="2871216"/>
            <a:ext cx="1600200" cy="804672"/>
          </a:xfrm>
          <a:prstGeom prst="rect">
            <a:avLst/>
          </a:prstGeom>
          <a:noFill/>
          <a:ln/>
        </p:spPr>
        <p:txBody>
          <a:bodyPr wrap="square" lIns="0" tIns="0" rIns="0" bIns="0" rtlCol="0" anchor="ctr"/>
          <a:lstStyle/>
          <a:p>
            <a:pPr marL="0" indent="0">
              <a:buNone/>
            </a:pPr>
            <a:r>
              <a:rPr lang="en-US" sz="1250" b="1" dirty="0">
                <a:solidFill>
                  <a:schemeClr val="tx1"/>
                </a:solidFill>
              </a:rPr>
              <a:t>KYC &amp; compliance</a:t>
            </a:r>
            <a:endParaRPr lang="en-US" sz="1250" dirty="0"/>
          </a:p>
        </p:txBody>
      </p:sp>
      <p:sp>
        <p:nvSpPr>
          <p:cNvPr id="20" name="card"/>
          <p:cNvSpPr/>
          <p:nvPr/>
        </p:nvSpPr>
        <p:spPr>
          <a:xfrm>
            <a:off x="6766560" y="2871216"/>
            <a:ext cx="1874520" cy="804672"/>
          </a:xfrm>
          <a:prstGeom prst="roundRect">
            <a:avLst>
              <a:gd name="adj" fmla="val 9091"/>
            </a:avLst>
          </a:prstGeom>
          <a:solidFill>
            <a:schemeClr val="bg2"/>
          </a:solidFill>
          <a:ln/>
        </p:spPr>
        <p:txBody>
          <a:bodyPr/>
          <a:lstStyle/>
          <a:p>
            <a:endParaRPr lang="en-GB"/>
          </a:p>
        </p:txBody>
      </p:sp>
      <p:sp>
        <p:nvSpPr>
          <p:cNvPr id="21" name="Text 19"/>
          <p:cNvSpPr txBox="1"/>
          <p:nvPr/>
        </p:nvSpPr>
        <p:spPr>
          <a:xfrm>
            <a:off x="6903720" y="2871216"/>
            <a:ext cx="1600200" cy="804672"/>
          </a:xfrm>
          <a:prstGeom prst="rect">
            <a:avLst/>
          </a:prstGeom>
          <a:noFill/>
          <a:ln/>
        </p:spPr>
        <p:txBody>
          <a:bodyPr wrap="square" lIns="0" tIns="0" rIns="0" bIns="0" rtlCol="0" anchor="ctr"/>
          <a:lstStyle/>
          <a:p>
            <a:pPr marL="0" indent="0">
              <a:buNone/>
            </a:pPr>
            <a:r>
              <a:rPr lang="en-US" sz="1250" b="1" dirty="0">
                <a:solidFill>
                  <a:schemeClr val="tx1"/>
                </a:solidFill>
              </a:rPr>
              <a:t>Automated workflows</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Context</a:t>
            </a:r>
            <a:endParaRPr lang="en-US" sz="2000" dirty="0"/>
          </a:p>
        </p:txBody>
      </p:sp>
      <p:sp>
        <p:nvSpPr>
          <p:cNvPr id="3" name="ctxIcon"/>
          <p:cNvSpPr/>
          <p:nvPr/>
        </p:nvSpPr>
        <p:spPr>
          <a:xfrm>
            <a:off x="457200" y="1143000"/>
            <a:ext cx="731520" cy="731520"/>
          </a:xfrm>
          <a:prstGeom prst="ellipse">
            <a:avLst/>
          </a:prstGeom>
          <a:solidFill>
            <a:schemeClr val="tx1"/>
          </a:solidFill>
          <a:ln/>
        </p:spPr>
        <p:txBody>
          <a:bodyPr/>
          <a:lstStyle/>
          <a:p>
            <a:endParaRPr lang="en-GB"/>
          </a:p>
        </p:txBody>
      </p:sp>
      <p:sp>
        <p:nvSpPr>
          <p:cNvPr id="4" name="Text 2"/>
          <p:cNvSpPr txBox="1"/>
          <p:nvPr/>
        </p:nvSpPr>
        <p:spPr>
          <a:xfrm>
            <a:off x="457200" y="1143000"/>
            <a:ext cx="731520" cy="731520"/>
          </a:xfrm>
          <a:prstGeom prst="rect">
            <a:avLst/>
          </a:prstGeom>
          <a:noFill/>
          <a:ln/>
        </p:spPr>
        <p:txBody>
          <a:bodyPr wrap="square" lIns="0" tIns="0" rIns="0" bIns="0" rtlCol="0" anchor="ctr"/>
          <a:lstStyle/>
          <a:p>
            <a:pPr marL="0" indent="0" algn="ctr">
              <a:buNone/>
            </a:pPr>
            <a:r>
              <a:rPr lang="en-US" sz="1800" b="1" dirty="0">
                <a:solidFill>
                  <a:schemeClr val="bg1"/>
                </a:solidFill>
              </a:rPr>
              <a:t>24/7</a:t>
            </a:r>
            <a:endParaRPr lang="en-US" sz="1800" dirty="0"/>
          </a:p>
        </p:txBody>
      </p:sp>
      <p:sp>
        <p:nvSpPr>
          <p:cNvPr id="5" name="Text 3"/>
          <p:cNvSpPr txBox="1"/>
          <p:nvPr/>
        </p:nvSpPr>
        <p:spPr>
          <a:xfrm>
            <a:off x="1371600" y="1143000"/>
            <a:ext cx="3474720" cy="731520"/>
          </a:xfrm>
          <a:prstGeom prst="rect">
            <a:avLst/>
          </a:prstGeom>
          <a:noFill/>
          <a:ln/>
        </p:spPr>
        <p:txBody>
          <a:bodyPr wrap="square" lIns="0" tIns="0" rIns="0" bIns="0" rtlCol="0" anchor="ctr"/>
          <a:lstStyle/>
          <a:p>
            <a:pPr marL="0" indent="0">
              <a:buNone/>
            </a:pPr>
            <a:r>
              <a:rPr lang="en-US" sz="1300" dirty="0">
                <a:solidFill>
                  <a:schemeClr val="tx1"/>
                </a:solidFill>
              </a:rPr>
              <a:t>multi-channel operation  (mobile, web, API, card </a:t>
            </a:r>
            <a:r>
              <a:rPr lang="en-US" sz="1300" dirty="0"/>
              <a:t>)</a:t>
            </a:r>
          </a:p>
        </p:txBody>
      </p:sp>
      <p:sp>
        <p:nvSpPr>
          <p:cNvPr id="6" name="ctxIcon"/>
          <p:cNvSpPr/>
          <p:nvPr/>
        </p:nvSpPr>
        <p:spPr>
          <a:xfrm>
            <a:off x="457200" y="2057400"/>
            <a:ext cx="731520" cy="731520"/>
          </a:xfrm>
          <a:prstGeom prst="ellipse">
            <a:avLst/>
          </a:prstGeom>
          <a:solidFill>
            <a:schemeClr val="tx1"/>
          </a:solidFill>
          <a:ln/>
        </p:spPr>
        <p:txBody>
          <a:bodyPr/>
          <a:lstStyle/>
          <a:p>
            <a:endParaRPr lang="en-GB"/>
          </a:p>
        </p:txBody>
      </p:sp>
      <p:sp>
        <p:nvSpPr>
          <p:cNvPr id="7" name="Text 5"/>
          <p:cNvSpPr txBox="1"/>
          <p:nvPr/>
        </p:nvSpPr>
        <p:spPr>
          <a:xfrm>
            <a:off x="457200" y="2057400"/>
            <a:ext cx="731520" cy="7315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8" name="Text 6"/>
          <p:cNvSpPr txBox="1"/>
          <p:nvPr/>
        </p:nvSpPr>
        <p:spPr>
          <a:xfrm>
            <a:off x="1371600" y="2057400"/>
            <a:ext cx="3291840" cy="731520"/>
          </a:xfrm>
          <a:prstGeom prst="rect">
            <a:avLst/>
          </a:prstGeom>
          <a:noFill/>
          <a:ln/>
        </p:spPr>
        <p:txBody>
          <a:bodyPr wrap="square" lIns="0" tIns="0" rIns="0" bIns="0" rtlCol="0" anchor="ctr"/>
          <a:lstStyle/>
          <a:p>
            <a:pPr marL="0" indent="0">
              <a:buNone/>
            </a:pPr>
            <a:r>
              <a:rPr lang="en-US" sz="1300" dirty="0">
                <a:solidFill>
                  <a:schemeClr val="tx1"/>
                </a:solidFill>
              </a:rPr>
              <a:t>dimensions where fraud behaves differently: account type, KYC tier, channel, merchant</a:t>
            </a:r>
            <a:endParaRPr lang="en-US" sz="1300" dirty="0"/>
          </a:p>
        </p:txBody>
      </p:sp>
      <p:sp>
        <p:nvSpPr>
          <p:cNvPr id="11" name="Text 9"/>
          <p:cNvSpPr txBox="1"/>
          <p:nvPr/>
        </p:nvSpPr>
        <p:spPr>
          <a:xfrm>
            <a:off x="1371600" y="2971800"/>
            <a:ext cx="3291840" cy="731520"/>
          </a:xfrm>
          <a:prstGeom prst="rect">
            <a:avLst/>
          </a:prstGeom>
          <a:noFill/>
          <a:ln/>
        </p:spPr>
        <p:txBody>
          <a:bodyPr wrap="square" lIns="0" tIns="0" rIns="0" bIns="0" rtlCol="0" anchor="ctr"/>
          <a:lstStyle/>
          <a:p>
            <a:pPr marL="0" indent="0">
              <a:buNone/>
            </a:pPr>
            <a:r>
              <a:rPr lang="en-US" sz="1300" dirty="0">
                <a:solidFill>
                  <a:schemeClr val="tx1"/>
                </a:solidFill>
              </a:rPr>
              <a:t>unified platform holding balances, identity and payments: a higher-value fraud target</a:t>
            </a:r>
            <a:endParaRPr lang="en-US" sz="1300" dirty="0"/>
          </a:p>
        </p:txBody>
      </p:sp>
      <p:sp>
        <p:nvSpPr>
          <p:cNvPr id="12" name="card"/>
          <p:cNvSpPr/>
          <p:nvPr/>
        </p:nvSpPr>
        <p:spPr>
          <a:xfrm>
            <a:off x="5029200" y="1143000"/>
            <a:ext cx="3657600" cy="2560320"/>
          </a:xfrm>
          <a:prstGeom prst="roundRect">
            <a:avLst>
              <a:gd name="adj" fmla="val 2857"/>
            </a:avLst>
          </a:prstGeom>
          <a:solidFill>
            <a:schemeClr val="bg2"/>
          </a:solidFill>
          <a:ln/>
        </p:spPr>
        <p:txBody>
          <a:bodyPr/>
          <a:lstStyle/>
          <a:p>
            <a:endParaRPr lang="en-GB"/>
          </a:p>
        </p:txBody>
      </p:sp>
      <p:sp>
        <p:nvSpPr>
          <p:cNvPr id="13" name="Text 11"/>
          <p:cNvSpPr txBox="1"/>
          <p:nvPr/>
        </p:nvSpPr>
        <p:spPr>
          <a:xfrm>
            <a:off x="5257800" y="1280160"/>
            <a:ext cx="3246120" cy="2331720"/>
          </a:xfrm>
          <a:prstGeom prst="rect">
            <a:avLst/>
          </a:prstGeom>
          <a:noFill/>
          <a:ln/>
        </p:spPr>
        <p:txBody>
          <a:bodyPr wrap="square" lIns="0" tIns="0" rIns="0" bIns="0" rtlCol="0" anchor="t"/>
          <a:lstStyle/>
          <a:p>
            <a:pPr marL="0" indent="0">
              <a:spcAft>
                <a:spcPts val="600"/>
              </a:spcAft>
              <a:buNone/>
            </a:pPr>
            <a:r>
              <a:rPr lang="en-US" sz="1500" b="1" dirty="0">
                <a:solidFill>
                  <a:schemeClr val="tx1"/>
                </a:solidFill>
              </a:rPr>
              <a:t>Today's monitoring</a:t>
            </a:r>
            <a:endParaRPr lang="en-US" sz="1300" dirty="0"/>
          </a:p>
          <a:p>
            <a:pPr marL="342900" indent="-342900">
              <a:spcAft>
                <a:spcPts val="600"/>
              </a:spcAft>
              <a:buSzPct val="100000"/>
              <a:buChar char="•"/>
            </a:pPr>
            <a:r>
              <a:rPr lang="en-US" sz="1300" dirty="0">
                <a:solidFill>
                  <a:schemeClr val="tx1"/>
                </a:solidFill>
              </a:rPr>
              <a:t>Fixed thresholds on amount, velocity and geography</a:t>
            </a:r>
            <a:endParaRPr lang="en-US" sz="1300" dirty="0"/>
          </a:p>
          <a:p>
            <a:pPr marL="342900" indent="-342900">
              <a:spcAft>
                <a:spcPts val="600"/>
              </a:spcAft>
              <a:buSzPct val="100000"/>
              <a:buChar char="•"/>
            </a:pPr>
            <a:r>
              <a:rPr lang="en-US" sz="1300" dirty="0">
                <a:solidFill>
                  <a:schemeClr val="tx1"/>
                </a:solidFill>
              </a:rPr>
              <a:t>Each transaction judged in isolation, without the account's history</a:t>
            </a:r>
            <a:endParaRPr lang="en-US" sz="1300" dirty="0"/>
          </a:p>
          <a:p>
            <a:pPr marL="342900" indent="-342900">
              <a:spcAft>
                <a:spcPts val="600"/>
              </a:spcAft>
              <a:buSzPct val="100000"/>
              <a:buChar char="•"/>
            </a:pPr>
            <a:r>
              <a:rPr lang="en-US" sz="1300" dirty="0">
                <a:solidFill>
                  <a:schemeClr val="tx1"/>
                </a:solidFill>
              </a:rPr>
              <a:t>Every alert carries equal urgency</a:t>
            </a:r>
            <a:endParaRPr lang="en-US" sz="1300" dirty="0"/>
          </a:p>
          <a:p>
            <a:pPr marL="342900" indent="-342900">
              <a:spcAft>
                <a:spcPts val="600"/>
              </a:spcAft>
              <a:buSzPct val="100000"/>
              <a:buChar char="•"/>
            </a:pPr>
            <a:r>
              <a:rPr lang="en-US" sz="1300" dirty="0">
                <a:solidFill>
                  <a:schemeClr val="tx1"/>
                </a:solidFill>
              </a:rPr>
              <a:t>Review effort grows linearly with volume</a:t>
            </a:r>
            <a:endParaRPr lang="en-US" sz="1300" dirty="0"/>
          </a:p>
        </p:txBody>
      </p:sp>
      <p:sp>
        <p:nvSpPr>
          <p:cNvPr id="14"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15" name="Text 13"/>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Rules built for low volume and simple fraud cannot scale with a unified, always-on platform.</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3</a:t>
            </a:fld>
            <a:endParaRPr lang="en-US"/>
          </a:p>
        </p:txBody>
      </p:sp>
      <p:sp>
        <p:nvSpPr>
          <p:cNvPr id="17" name="ctxIcon">
            <a:extLst>
              <a:ext uri="{FF2B5EF4-FFF2-40B4-BE49-F238E27FC236}">
                <a16:creationId xmlns:a16="http://schemas.microsoft.com/office/drawing/2014/main" id="{30F6E1CE-BC0B-BA95-031E-B1C481372B9C}"/>
              </a:ext>
            </a:extLst>
          </p:cNvPr>
          <p:cNvSpPr/>
          <p:nvPr/>
        </p:nvSpPr>
        <p:spPr>
          <a:xfrm>
            <a:off x="457200" y="2971800"/>
            <a:ext cx="731520" cy="731520"/>
          </a:xfrm>
          <a:prstGeom prst="ellipse">
            <a:avLst/>
          </a:prstGeom>
          <a:solidFill>
            <a:schemeClr val="tx1"/>
          </a:solidFill>
          <a:ln/>
        </p:spPr>
        <p:txBody>
          <a:bodyPr/>
          <a:lstStyle/>
          <a:p>
            <a:endParaRPr lang="en-GB"/>
          </a:p>
        </p:txBody>
      </p:sp>
      <p:sp>
        <p:nvSpPr>
          <p:cNvPr id="19" name="Text 5">
            <a:extLst>
              <a:ext uri="{FF2B5EF4-FFF2-40B4-BE49-F238E27FC236}">
                <a16:creationId xmlns:a16="http://schemas.microsoft.com/office/drawing/2014/main" id="{B492F621-2F43-E461-4179-87045292563A}"/>
              </a:ext>
            </a:extLst>
          </p:cNvPr>
          <p:cNvSpPr txBox="1"/>
          <p:nvPr/>
        </p:nvSpPr>
        <p:spPr>
          <a:xfrm>
            <a:off x="457200" y="2971800"/>
            <a:ext cx="731520" cy="731520"/>
          </a:xfrm>
          <a:prstGeom prst="rect">
            <a:avLst/>
          </a:prstGeom>
          <a:noFill/>
          <a:ln/>
        </p:spPr>
        <p:txBody>
          <a:bodyPr wrap="square" lIns="0" tIns="0" rIns="0" bIns="0" rtlCol="0" anchor="ctr"/>
          <a:lstStyle/>
          <a:p>
            <a:pPr marL="0" indent="0" algn="ctr">
              <a:buNone/>
            </a:pPr>
            <a:r>
              <a:rPr lang="en-US" b="1" dirty="0">
                <a:solidFill>
                  <a:schemeClr val="bg1"/>
                </a:solidFill>
              </a:rPr>
              <a:t>1</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Problem</a:t>
            </a:r>
            <a:endParaRPr lang="en-US" sz="2000" dirty="0"/>
          </a:p>
        </p:txBody>
      </p:sp>
      <p:sp>
        <p:nvSpPr>
          <p:cNvPr id="3" name="card"/>
          <p:cNvSpPr/>
          <p:nvPr/>
        </p:nvSpPr>
        <p:spPr>
          <a:xfrm>
            <a:off x="457200" y="1143000"/>
            <a:ext cx="2606040" cy="2651760"/>
          </a:xfrm>
          <a:prstGeom prst="roundRect">
            <a:avLst>
              <a:gd name="adj" fmla="val 2807"/>
            </a:avLst>
          </a:prstGeom>
          <a:solidFill>
            <a:schemeClr val="bg2"/>
          </a:solidFill>
          <a:ln/>
        </p:spPr>
        <p:txBody>
          <a:bodyPr/>
          <a:lstStyle/>
          <a:p>
            <a:endParaRPr lang="en-GB"/>
          </a:p>
        </p:txBody>
      </p:sp>
      <p:sp>
        <p:nvSpPr>
          <p:cNvPr id="4" name="probIcon"/>
          <p:cNvSpPr/>
          <p:nvPr/>
        </p:nvSpPr>
        <p:spPr>
          <a:xfrm>
            <a:off x="685800" y="1325880"/>
            <a:ext cx="502920" cy="502920"/>
          </a:xfrm>
          <a:prstGeom prst="ellipse">
            <a:avLst/>
          </a:prstGeom>
          <a:solidFill>
            <a:schemeClr val="accent1"/>
          </a:solidFill>
          <a:ln/>
        </p:spPr>
        <p:txBody>
          <a:bodyPr/>
          <a:lstStyle/>
          <a:p>
            <a:endParaRPr lang="en-GB"/>
          </a:p>
        </p:txBody>
      </p:sp>
      <p:sp>
        <p:nvSpPr>
          <p:cNvPr id="5" name="Text 3"/>
          <p:cNvSpPr txBox="1"/>
          <p:nvPr/>
        </p:nvSpPr>
        <p:spPr>
          <a:xfrm>
            <a:off x="685800" y="13258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685800" y="1965960"/>
            <a:ext cx="2194560" cy="411480"/>
          </a:xfrm>
          <a:prstGeom prst="rect">
            <a:avLst/>
          </a:prstGeom>
          <a:noFill/>
          <a:ln/>
        </p:spPr>
        <p:txBody>
          <a:bodyPr wrap="square" lIns="0" tIns="0" rIns="0" bIns="0" rtlCol="0" anchor="t"/>
          <a:lstStyle/>
          <a:p>
            <a:pPr marL="0" indent="0">
              <a:buNone/>
            </a:pPr>
            <a:r>
              <a:rPr lang="en-US" sz="1600" b="1" dirty="0">
                <a:solidFill>
                  <a:schemeClr val="tx1"/>
                </a:solidFill>
              </a:rPr>
              <a:t>Missed fraud</a:t>
            </a:r>
            <a:endParaRPr lang="en-US" sz="1600" dirty="0"/>
          </a:p>
        </p:txBody>
      </p:sp>
      <p:sp>
        <p:nvSpPr>
          <p:cNvPr id="7" name="Text 5"/>
          <p:cNvSpPr txBox="1"/>
          <p:nvPr/>
        </p:nvSpPr>
        <p:spPr>
          <a:xfrm>
            <a:off x="685800" y="2423160"/>
            <a:ext cx="2194560" cy="1280160"/>
          </a:xfrm>
          <a:prstGeom prst="rect">
            <a:avLst/>
          </a:prstGeom>
          <a:noFill/>
          <a:ln/>
        </p:spPr>
        <p:txBody>
          <a:bodyPr wrap="square" lIns="0" tIns="0" rIns="0" bIns="0" rtlCol="0" anchor="t"/>
          <a:lstStyle/>
          <a:p>
            <a:pPr marL="0" indent="0">
              <a:buNone/>
            </a:pPr>
            <a:r>
              <a:rPr lang="en-US" sz="1300" dirty="0">
                <a:solidFill>
                  <a:schemeClr val="accent4"/>
                </a:solidFill>
              </a:rPr>
              <a:t>Subtle fraud stays under fixed thresholds → direct losses and chargebacks</a:t>
            </a:r>
            <a:endParaRPr lang="en-US" sz="1300" dirty="0"/>
          </a:p>
        </p:txBody>
      </p:sp>
      <p:sp>
        <p:nvSpPr>
          <p:cNvPr id="8" name="card"/>
          <p:cNvSpPr/>
          <p:nvPr/>
        </p:nvSpPr>
        <p:spPr>
          <a:xfrm>
            <a:off x="3246120" y="1143000"/>
            <a:ext cx="2606040" cy="2651760"/>
          </a:xfrm>
          <a:prstGeom prst="roundRect">
            <a:avLst>
              <a:gd name="adj" fmla="val 2807"/>
            </a:avLst>
          </a:prstGeom>
          <a:solidFill>
            <a:schemeClr val="bg2"/>
          </a:solidFill>
          <a:ln/>
        </p:spPr>
        <p:txBody>
          <a:bodyPr/>
          <a:lstStyle/>
          <a:p>
            <a:endParaRPr lang="en-GB"/>
          </a:p>
        </p:txBody>
      </p:sp>
      <p:sp>
        <p:nvSpPr>
          <p:cNvPr id="9" name="probIcon"/>
          <p:cNvSpPr/>
          <p:nvPr/>
        </p:nvSpPr>
        <p:spPr>
          <a:xfrm>
            <a:off x="3474720" y="1325880"/>
            <a:ext cx="502920" cy="502920"/>
          </a:xfrm>
          <a:prstGeom prst="ellipse">
            <a:avLst/>
          </a:prstGeom>
          <a:solidFill>
            <a:schemeClr val="accent3"/>
          </a:solidFill>
          <a:ln/>
        </p:spPr>
        <p:txBody>
          <a:bodyPr/>
          <a:lstStyle/>
          <a:p>
            <a:endParaRPr lang="en-GB"/>
          </a:p>
        </p:txBody>
      </p:sp>
      <p:sp>
        <p:nvSpPr>
          <p:cNvPr id="10" name="Text 8"/>
          <p:cNvSpPr txBox="1"/>
          <p:nvPr/>
        </p:nvSpPr>
        <p:spPr>
          <a:xfrm>
            <a:off x="3474720" y="13258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3474720" y="1965960"/>
            <a:ext cx="2194560" cy="411480"/>
          </a:xfrm>
          <a:prstGeom prst="rect">
            <a:avLst/>
          </a:prstGeom>
          <a:noFill/>
          <a:ln/>
        </p:spPr>
        <p:txBody>
          <a:bodyPr wrap="square" lIns="0" tIns="0" rIns="0" bIns="0" rtlCol="0" anchor="t"/>
          <a:lstStyle/>
          <a:p>
            <a:pPr marL="0" indent="0">
              <a:buNone/>
            </a:pPr>
            <a:r>
              <a:rPr lang="en-US" sz="1600" b="1" dirty="0">
                <a:solidFill>
                  <a:schemeClr val="tx1"/>
                </a:solidFill>
              </a:rPr>
              <a:t>Blocked customers</a:t>
            </a:r>
            <a:endParaRPr lang="en-US" sz="1600" dirty="0"/>
          </a:p>
        </p:txBody>
      </p:sp>
      <p:sp>
        <p:nvSpPr>
          <p:cNvPr id="12" name="Text 10"/>
          <p:cNvSpPr txBox="1"/>
          <p:nvPr/>
        </p:nvSpPr>
        <p:spPr>
          <a:xfrm>
            <a:off x="3474720" y="2423160"/>
            <a:ext cx="2194560" cy="1280160"/>
          </a:xfrm>
          <a:prstGeom prst="rect">
            <a:avLst/>
          </a:prstGeom>
          <a:noFill/>
          <a:ln/>
        </p:spPr>
        <p:txBody>
          <a:bodyPr wrap="square" lIns="0" tIns="0" rIns="0" bIns="0" rtlCol="0" anchor="t"/>
          <a:lstStyle/>
          <a:p>
            <a:pPr marL="0" indent="0">
              <a:buNone/>
            </a:pPr>
            <a:r>
              <a:rPr lang="en-US" sz="1300" dirty="0">
                <a:solidFill>
                  <a:schemeClr val="accent4"/>
                </a:solidFill>
              </a:rPr>
              <a:t>Legitimate payroll, wire and P2P transfers delayed → friction, support cost, churn risk</a:t>
            </a:r>
            <a:endParaRPr lang="en-US" sz="1300" dirty="0"/>
          </a:p>
        </p:txBody>
      </p:sp>
      <p:sp>
        <p:nvSpPr>
          <p:cNvPr id="13" name="card"/>
          <p:cNvSpPr/>
          <p:nvPr/>
        </p:nvSpPr>
        <p:spPr>
          <a:xfrm>
            <a:off x="6035040" y="1143000"/>
            <a:ext cx="2606040" cy="2651760"/>
          </a:xfrm>
          <a:prstGeom prst="roundRect">
            <a:avLst>
              <a:gd name="adj" fmla="val 2807"/>
            </a:avLst>
          </a:prstGeom>
          <a:solidFill>
            <a:schemeClr val="bg2"/>
          </a:solidFill>
          <a:ln/>
        </p:spPr>
        <p:txBody>
          <a:bodyPr/>
          <a:lstStyle/>
          <a:p>
            <a:endParaRPr lang="en-GB"/>
          </a:p>
        </p:txBody>
      </p:sp>
      <p:sp>
        <p:nvSpPr>
          <p:cNvPr id="14" name="probIcon"/>
          <p:cNvSpPr/>
          <p:nvPr/>
        </p:nvSpPr>
        <p:spPr>
          <a:xfrm>
            <a:off x="6263640" y="1325880"/>
            <a:ext cx="502920" cy="502920"/>
          </a:xfrm>
          <a:prstGeom prst="ellipse">
            <a:avLst/>
          </a:prstGeom>
          <a:solidFill>
            <a:schemeClr val="accent4"/>
          </a:solidFill>
          <a:ln/>
        </p:spPr>
        <p:txBody>
          <a:bodyPr/>
          <a:lstStyle/>
          <a:p>
            <a:endParaRPr lang="en-GB"/>
          </a:p>
        </p:txBody>
      </p:sp>
      <p:sp>
        <p:nvSpPr>
          <p:cNvPr id="15" name="Text 13"/>
          <p:cNvSpPr txBox="1"/>
          <p:nvPr/>
        </p:nvSpPr>
        <p:spPr>
          <a:xfrm>
            <a:off x="6263640" y="13258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6263640" y="1965960"/>
            <a:ext cx="2194560" cy="411480"/>
          </a:xfrm>
          <a:prstGeom prst="rect">
            <a:avLst/>
          </a:prstGeom>
          <a:noFill/>
          <a:ln/>
        </p:spPr>
        <p:txBody>
          <a:bodyPr wrap="square" lIns="0" tIns="0" rIns="0" bIns="0" rtlCol="0" anchor="t"/>
          <a:lstStyle/>
          <a:p>
            <a:pPr marL="0" indent="0">
              <a:buNone/>
            </a:pPr>
            <a:r>
              <a:rPr lang="en-US" sz="1600" b="1" dirty="0">
                <a:solidFill>
                  <a:schemeClr val="tx1"/>
                </a:solidFill>
              </a:rPr>
              <a:t>No prioritisation</a:t>
            </a:r>
            <a:endParaRPr lang="en-US" sz="1600" dirty="0"/>
          </a:p>
        </p:txBody>
      </p:sp>
      <p:sp>
        <p:nvSpPr>
          <p:cNvPr id="17" name="Text 15"/>
          <p:cNvSpPr txBox="1"/>
          <p:nvPr/>
        </p:nvSpPr>
        <p:spPr>
          <a:xfrm>
            <a:off x="6263640" y="2423160"/>
            <a:ext cx="2194560" cy="1280160"/>
          </a:xfrm>
          <a:prstGeom prst="rect">
            <a:avLst/>
          </a:prstGeom>
          <a:noFill/>
          <a:ln/>
        </p:spPr>
        <p:txBody>
          <a:bodyPr wrap="square" lIns="0" tIns="0" rIns="0" bIns="0" rtlCol="0" anchor="t"/>
          <a:lstStyle/>
          <a:p>
            <a:pPr marL="0" indent="0">
              <a:buNone/>
            </a:pPr>
            <a:r>
              <a:rPr lang="en-US" sz="1300" dirty="0">
                <a:solidFill>
                  <a:schemeClr val="accent4"/>
                </a:solidFill>
              </a:rPr>
              <a:t>Analysts face an equal-urgency alert pile → time spent on low-value alerts</a:t>
            </a:r>
            <a:endParaRPr lang="en-US" sz="1300" dirty="0"/>
          </a:p>
        </p:txBody>
      </p:sp>
      <p:sp>
        <p:nvSpPr>
          <p:cNvPr id="18"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19" name="Text 17"/>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Root cause: rules ignore each account's own behaviour, so one threshold can't fit every customer.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Project overview</a:t>
            </a:r>
            <a:endParaRPr lang="en-US" sz="2000" dirty="0"/>
          </a:p>
        </p:txBody>
      </p:sp>
      <p:sp>
        <p:nvSpPr>
          <p:cNvPr id="3" name="stepIcon"/>
          <p:cNvSpPr/>
          <p:nvPr/>
        </p:nvSpPr>
        <p:spPr>
          <a:xfrm>
            <a:off x="850392" y="1097280"/>
            <a:ext cx="548640" cy="548640"/>
          </a:xfrm>
          <a:prstGeom prst="ellipse">
            <a:avLst/>
          </a:prstGeom>
          <a:solidFill>
            <a:schemeClr val="tx1"/>
          </a:solidFill>
          <a:ln/>
        </p:spPr>
        <p:txBody>
          <a:bodyPr/>
          <a:lstStyle/>
          <a:p>
            <a:endParaRPr lang="en-GB"/>
          </a:p>
        </p:txBody>
      </p:sp>
      <p:sp>
        <p:nvSpPr>
          <p:cNvPr id="4" name="Text 2"/>
          <p:cNvSpPr txBox="1"/>
          <p:nvPr/>
        </p:nvSpPr>
        <p:spPr>
          <a:xfrm>
            <a:off x="850392" y="10972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457200" y="1783080"/>
            <a:ext cx="1325880" cy="365760"/>
          </a:xfrm>
          <a:prstGeom prst="rect">
            <a:avLst/>
          </a:prstGeom>
          <a:noFill/>
          <a:ln/>
        </p:spPr>
        <p:txBody>
          <a:bodyPr wrap="square" lIns="0" tIns="0" rIns="0" bIns="0" rtlCol="0" anchor="t"/>
          <a:lstStyle/>
          <a:p>
            <a:pPr marL="0" indent="0" algn="ctr">
              <a:buNone/>
            </a:pPr>
            <a:r>
              <a:rPr lang="en-US" sz="1350" b="1" dirty="0">
                <a:solidFill>
                  <a:schemeClr val="tx1"/>
                </a:solidFill>
              </a:rPr>
              <a:t>Frame</a:t>
            </a:r>
            <a:endParaRPr lang="en-US" sz="1350" dirty="0"/>
          </a:p>
        </p:txBody>
      </p:sp>
      <p:sp>
        <p:nvSpPr>
          <p:cNvPr id="6" name="Text 4"/>
          <p:cNvSpPr txBox="1"/>
          <p:nvPr/>
        </p:nvSpPr>
        <p:spPr>
          <a:xfrm>
            <a:off x="502920" y="2148840"/>
            <a:ext cx="1234440" cy="731520"/>
          </a:xfrm>
          <a:prstGeom prst="rect">
            <a:avLst/>
          </a:prstGeom>
          <a:noFill/>
          <a:ln/>
        </p:spPr>
        <p:txBody>
          <a:bodyPr wrap="square" lIns="0" tIns="0" rIns="0" bIns="0" rtlCol="0" anchor="t"/>
          <a:lstStyle/>
          <a:p>
            <a:pPr marL="0" indent="0" algn="ctr">
              <a:buNone/>
            </a:pPr>
            <a:r>
              <a:rPr lang="en-US" sz="1100" dirty="0">
                <a:solidFill>
                  <a:schemeClr val="accent4"/>
                </a:solidFill>
              </a:rPr>
              <a:t>Define fraud as a probability problem</a:t>
            </a:r>
            <a:endParaRPr lang="en-US" sz="1100" dirty="0"/>
          </a:p>
        </p:txBody>
      </p:sp>
      <p:sp>
        <p:nvSpPr>
          <p:cNvPr id="7" name="stepIcon"/>
          <p:cNvSpPr/>
          <p:nvPr/>
        </p:nvSpPr>
        <p:spPr>
          <a:xfrm>
            <a:off x="2240280" y="1097280"/>
            <a:ext cx="548640" cy="548640"/>
          </a:xfrm>
          <a:prstGeom prst="ellipse">
            <a:avLst/>
          </a:prstGeom>
          <a:solidFill>
            <a:schemeClr val="tx1"/>
          </a:solidFill>
          <a:ln/>
        </p:spPr>
        <p:txBody>
          <a:bodyPr/>
          <a:lstStyle/>
          <a:p>
            <a:endParaRPr lang="en-GB"/>
          </a:p>
        </p:txBody>
      </p:sp>
      <p:sp>
        <p:nvSpPr>
          <p:cNvPr id="8" name="Text 6"/>
          <p:cNvSpPr txBox="1"/>
          <p:nvPr/>
        </p:nvSpPr>
        <p:spPr>
          <a:xfrm>
            <a:off x="2240280" y="10972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7"/>
          <p:cNvSpPr txBox="1"/>
          <p:nvPr/>
        </p:nvSpPr>
        <p:spPr>
          <a:xfrm>
            <a:off x="1847088" y="1783080"/>
            <a:ext cx="1325880" cy="365760"/>
          </a:xfrm>
          <a:prstGeom prst="rect">
            <a:avLst/>
          </a:prstGeom>
          <a:noFill/>
          <a:ln/>
        </p:spPr>
        <p:txBody>
          <a:bodyPr wrap="square" lIns="0" tIns="0" rIns="0" bIns="0" rtlCol="0" anchor="t"/>
          <a:lstStyle/>
          <a:p>
            <a:pPr marL="0" indent="0" algn="ctr">
              <a:buNone/>
            </a:pPr>
            <a:r>
              <a:rPr lang="en-US" sz="1350" b="1" dirty="0">
                <a:solidFill>
                  <a:schemeClr val="tx1"/>
                </a:solidFill>
              </a:rPr>
              <a:t>Clean</a:t>
            </a:r>
            <a:endParaRPr lang="en-US" sz="1350" dirty="0"/>
          </a:p>
        </p:txBody>
      </p:sp>
      <p:sp>
        <p:nvSpPr>
          <p:cNvPr id="10" name="Text 8"/>
          <p:cNvSpPr txBox="1"/>
          <p:nvPr/>
        </p:nvSpPr>
        <p:spPr>
          <a:xfrm>
            <a:off x="1892808" y="2148840"/>
            <a:ext cx="1234440" cy="731520"/>
          </a:xfrm>
          <a:prstGeom prst="rect">
            <a:avLst/>
          </a:prstGeom>
          <a:noFill/>
          <a:ln/>
        </p:spPr>
        <p:txBody>
          <a:bodyPr wrap="square" lIns="0" tIns="0" rIns="0" bIns="0" rtlCol="0" anchor="t"/>
          <a:lstStyle/>
          <a:p>
            <a:pPr marL="0" indent="0" algn="ctr">
              <a:buNone/>
            </a:pPr>
            <a:r>
              <a:rPr lang="en-US" sz="1100" dirty="0">
                <a:solidFill>
                  <a:schemeClr val="accent4"/>
                </a:solidFill>
              </a:rPr>
              <a:t>Fix gaps and errors; merge tables</a:t>
            </a:r>
            <a:endParaRPr lang="en-US" sz="1100" dirty="0"/>
          </a:p>
        </p:txBody>
      </p:sp>
      <p:sp>
        <p:nvSpPr>
          <p:cNvPr id="11" name="stepIcon"/>
          <p:cNvSpPr/>
          <p:nvPr/>
        </p:nvSpPr>
        <p:spPr>
          <a:xfrm>
            <a:off x="3630168" y="1097280"/>
            <a:ext cx="548640" cy="548640"/>
          </a:xfrm>
          <a:prstGeom prst="ellipse">
            <a:avLst/>
          </a:prstGeom>
          <a:solidFill>
            <a:schemeClr val="tx1"/>
          </a:solidFill>
          <a:ln/>
        </p:spPr>
        <p:txBody>
          <a:bodyPr/>
          <a:lstStyle/>
          <a:p>
            <a:endParaRPr lang="en-GB"/>
          </a:p>
        </p:txBody>
      </p:sp>
      <p:sp>
        <p:nvSpPr>
          <p:cNvPr id="12" name="Text 10"/>
          <p:cNvSpPr txBox="1"/>
          <p:nvPr/>
        </p:nvSpPr>
        <p:spPr>
          <a:xfrm>
            <a:off x="3630168" y="10972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1"/>
          <p:cNvSpPr txBox="1"/>
          <p:nvPr/>
        </p:nvSpPr>
        <p:spPr>
          <a:xfrm>
            <a:off x="3236976" y="1783080"/>
            <a:ext cx="1325880" cy="365760"/>
          </a:xfrm>
          <a:prstGeom prst="rect">
            <a:avLst/>
          </a:prstGeom>
          <a:noFill/>
          <a:ln/>
        </p:spPr>
        <p:txBody>
          <a:bodyPr wrap="square" lIns="0" tIns="0" rIns="0" bIns="0" rtlCol="0" anchor="t"/>
          <a:lstStyle/>
          <a:p>
            <a:pPr marL="0" indent="0" algn="ctr">
              <a:buNone/>
            </a:pPr>
            <a:r>
              <a:rPr lang="en-US" sz="1350" b="1" dirty="0">
                <a:solidFill>
                  <a:schemeClr val="tx1"/>
                </a:solidFill>
              </a:rPr>
              <a:t>Explore</a:t>
            </a:r>
            <a:endParaRPr lang="en-US" sz="1350" dirty="0"/>
          </a:p>
        </p:txBody>
      </p:sp>
      <p:sp>
        <p:nvSpPr>
          <p:cNvPr id="14" name="Text 12"/>
          <p:cNvSpPr txBox="1"/>
          <p:nvPr/>
        </p:nvSpPr>
        <p:spPr>
          <a:xfrm>
            <a:off x="3282696" y="2148840"/>
            <a:ext cx="1234440" cy="731520"/>
          </a:xfrm>
          <a:prstGeom prst="rect">
            <a:avLst/>
          </a:prstGeom>
          <a:noFill/>
          <a:ln/>
        </p:spPr>
        <p:txBody>
          <a:bodyPr wrap="square" lIns="0" tIns="0" rIns="0" bIns="0" rtlCol="0" anchor="t"/>
          <a:lstStyle/>
          <a:p>
            <a:pPr marL="0" indent="0" algn="ctr">
              <a:buNone/>
            </a:pPr>
            <a:r>
              <a:rPr lang="en-US" sz="1100" dirty="0">
                <a:solidFill>
                  <a:schemeClr val="accent4"/>
                </a:solidFill>
              </a:rPr>
              <a:t>Find which behaviours signal fraud</a:t>
            </a:r>
            <a:endParaRPr lang="en-US" sz="1100" dirty="0"/>
          </a:p>
        </p:txBody>
      </p:sp>
      <p:sp>
        <p:nvSpPr>
          <p:cNvPr id="15" name="stepIcon"/>
          <p:cNvSpPr/>
          <p:nvPr/>
        </p:nvSpPr>
        <p:spPr>
          <a:xfrm>
            <a:off x="5020056" y="1097280"/>
            <a:ext cx="548640" cy="548640"/>
          </a:xfrm>
          <a:prstGeom prst="ellipse">
            <a:avLst/>
          </a:prstGeom>
          <a:solidFill>
            <a:schemeClr val="tx1"/>
          </a:solidFill>
          <a:ln/>
        </p:spPr>
        <p:txBody>
          <a:bodyPr/>
          <a:lstStyle/>
          <a:p>
            <a:endParaRPr lang="en-GB"/>
          </a:p>
        </p:txBody>
      </p:sp>
      <p:sp>
        <p:nvSpPr>
          <p:cNvPr id="16" name="Text 14"/>
          <p:cNvSpPr txBox="1"/>
          <p:nvPr/>
        </p:nvSpPr>
        <p:spPr>
          <a:xfrm>
            <a:off x="5020056" y="10972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5"/>
          <p:cNvSpPr txBox="1"/>
          <p:nvPr/>
        </p:nvSpPr>
        <p:spPr>
          <a:xfrm>
            <a:off x="4626864" y="1783080"/>
            <a:ext cx="1325880" cy="365760"/>
          </a:xfrm>
          <a:prstGeom prst="rect">
            <a:avLst/>
          </a:prstGeom>
          <a:noFill/>
          <a:ln/>
        </p:spPr>
        <p:txBody>
          <a:bodyPr wrap="square" lIns="0" tIns="0" rIns="0" bIns="0" rtlCol="0" anchor="t"/>
          <a:lstStyle/>
          <a:p>
            <a:pPr marL="0" indent="0" algn="ctr">
              <a:buNone/>
            </a:pPr>
            <a:r>
              <a:rPr lang="en-US" sz="1350" b="1" dirty="0">
                <a:solidFill>
                  <a:schemeClr val="tx1"/>
                </a:solidFill>
              </a:rPr>
              <a:t>Engineer</a:t>
            </a:r>
            <a:endParaRPr lang="en-US" sz="1350" dirty="0"/>
          </a:p>
        </p:txBody>
      </p:sp>
      <p:sp>
        <p:nvSpPr>
          <p:cNvPr id="18" name="Text 16"/>
          <p:cNvSpPr txBox="1"/>
          <p:nvPr/>
        </p:nvSpPr>
        <p:spPr>
          <a:xfrm>
            <a:off x="4672584" y="2148840"/>
            <a:ext cx="1234440" cy="731520"/>
          </a:xfrm>
          <a:prstGeom prst="rect">
            <a:avLst/>
          </a:prstGeom>
          <a:noFill/>
          <a:ln/>
        </p:spPr>
        <p:txBody>
          <a:bodyPr wrap="square" lIns="0" tIns="0" rIns="0" bIns="0" rtlCol="0" anchor="t"/>
          <a:lstStyle/>
          <a:p>
            <a:pPr marL="0" indent="0" algn="ctr">
              <a:buNone/>
            </a:pPr>
            <a:r>
              <a:rPr lang="en-US" sz="1100" dirty="0">
                <a:solidFill>
                  <a:schemeClr val="accent4"/>
                </a:solidFill>
              </a:rPr>
              <a:t>Turn behaviour into model inputs</a:t>
            </a:r>
            <a:endParaRPr lang="en-US" sz="1100" dirty="0"/>
          </a:p>
        </p:txBody>
      </p:sp>
      <p:sp>
        <p:nvSpPr>
          <p:cNvPr id="19" name="stepIcon"/>
          <p:cNvSpPr/>
          <p:nvPr/>
        </p:nvSpPr>
        <p:spPr>
          <a:xfrm>
            <a:off x="6409944" y="1097280"/>
            <a:ext cx="548640" cy="548640"/>
          </a:xfrm>
          <a:prstGeom prst="ellipse">
            <a:avLst/>
          </a:prstGeom>
          <a:solidFill>
            <a:schemeClr val="tx1"/>
          </a:solidFill>
          <a:ln/>
        </p:spPr>
        <p:txBody>
          <a:bodyPr/>
          <a:lstStyle/>
          <a:p>
            <a:endParaRPr lang="en-GB"/>
          </a:p>
        </p:txBody>
      </p:sp>
      <p:sp>
        <p:nvSpPr>
          <p:cNvPr id="20" name="Text 18"/>
          <p:cNvSpPr txBox="1"/>
          <p:nvPr/>
        </p:nvSpPr>
        <p:spPr>
          <a:xfrm>
            <a:off x="6409944" y="10972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1" name="Text 19"/>
          <p:cNvSpPr txBox="1"/>
          <p:nvPr/>
        </p:nvSpPr>
        <p:spPr>
          <a:xfrm>
            <a:off x="6016752" y="1783080"/>
            <a:ext cx="1325880" cy="365760"/>
          </a:xfrm>
          <a:prstGeom prst="rect">
            <a:avLst/>
          </a:prstGeom>
          <a:noFill/>
          <a:ln/>
        </p:spPr>
        <p:txBody>
          <a:bodyPr wrap="square" lIns="0" tIns="0" rIns="0" bIns="0" rtlCol="0" anchor="t"/>
          <a:lstStyle/>
          <a:p>
            <a:pPr marL="0" indent="0" algn="ctr">
              <a:buNone/>
            </a:pPr>
            <a:r>
              <a:rPr lang="en-US" sz="1350" b="1" dirty="0">
                <a:solidFill>
                  <a:schemeClr val="tx1"/>
                </a:solidFill>
              </a:rPr>
              <a:t>Model &amp; test</a:t>
            </a:r>
            <a:endParaRPr lang="en-US" sz="1350" dirty="0"/>
          </a:p>
        </p:txBody>
      </p:sp>
      <p:sp>
        <p:nvSpPr>
          <p:cNvPr id="22" name="Text 20"/>
          <p:cNvSpPr txBox="1"/>
          <p:nvPr/>
        </p:nvSpPr>
        <p:spPr>
          <a:xfrm>
            <a:off x="6062472" y="2148840"/>
            <a:ext cx="1234440" cy="731520"/>
          </a:xfrm>
          <a:prstGeom prst="rect">
            <a:avLst/>
          </a:prstGeom>
          <a:noFill/>
          <a:ln/>
        </p:spPr>
        <p:txBody>
          <a:bodyPr wrap="square" lIns="0" tIns="0" rIns="0" bIns="0" rtlCol="0" anchor="t"/>
          <a:lstStyle/>
          <a:p>
            <a:pPr marL="0" indent="0" algn="ctr">
              <a:buNone/>
            </a:pPr>
            <a:r>
              <a:rPr lang="en-US" sz="1100" dirty="0">
                <a:solidFill>
                  <a:schemeClr val="accent4"/>
                </a:solidFill>
              </a:rPr>
              <a:t>Train two models</a:t>
            </a:r>
            <a:endParaRPr lang="en-US" sz="1100" dirty="0"/>
          </a:p>
        </p:txBody>
      </p:sp>
      <p:sp>
        <p:nvSpPr>
          <p:cNvPr id="25" name="Text 23"/>
          <p:cNvSpPr txBox="1"/>
          <p:nvPr/>
        </p:nvSpPr>
        <p:spPr>
          <a:xfrm>
            <a:off x="7406640" y="1783080"/>
            <a:ext cx="1325880" cy="365760"/>
          </a:xfrm>
          <a:prstGeom prst="rect">
            <a:avLst/>
          </a:prstGeom>
          <a:noFill/>
          <a:ln/>
        </p:spPr>
        <p:txBody>
          <a:bodyPr wrap="square" lIns="0" tIns="0" rIns="0" bIns="0" rtlCol="0" anchor="t"/>
          <a:lstStyle/>
          <a:p>
            <a:pPr marL="0" indent="0" algn="ctr">
              <a:buNone/>
            </a:pPr>
            <a:r>
              <a:rPr lang="en-US" sz="1350" b="1" dirty="0">
                <a:solidFill>
                  <a:schemeClr val="tx1"/>
                </a:solidFill>
              </a:rPr>
              <a:t>Deploy</a:t>
            </a:r>
            <a:endParaRPr lang="en-US" sz="1350" dirty="0"/>
          </a:p>
        </p:txBody>
      </p:sp>
      <p:sp>
        <p:nvSpPr>
          <p:cNvPr id="26" name="Text 24"/>
          <p:cNvSpPr txBox="1"/>
          <p:nvPr/>
        </p:nvSpPr>
        <p:spPr>
          <a:xfrm>
            <a:off x="7452360" y="2148840"/>
            <a:ext cx="1234440" cy="731520"/>
          </a:xfrm>
          <a:prstGeom prst="rect">
            <a:avLst/>
          </a:prstGeom>
          <a:noFill/>
          <a:ln/>
        </p:spPr>
        <p:txBody>
          <a:bodyPr wrap="square" lIns="0" tIns="0" rIns="0" bIns="0" rtlCol="0" anchor="t"/>
          <a:lstStyle/>
          <a:p>
            <a:pPr marL="0" indent="0" algn="ctr">
              <a:buNone/>
            </a:pPr>
            <a:r>
              <a:rPr lang="en-US" sz="1100" dirty="0">
                <a:solidFill>
                  <a:schemeClr val="accent4"/>
                </a:solidFill>
              </a:rPr>
              <a:t>Streamlit review queue</a:t>
            </a:r>
            <a:endParaRPr lang="en-US" sz="1100" dirty="0"/>
          </a:p>
        </p:txBody>
      </p:sp>
      <p:sp>
        <p:nvSpPr>
          <p:cNvPr id="27" name="card"/>
          <p:cNvSpPr/>
          <p:nvPr/>
        </p:nvSpPr>
        <p:spPr>
          <a:xfrm>
            <a:off x="457200" y="3017520"/>
            <a:ext cx="4023360" cy="914400"/>
          </a:xfrm>
          <a:prstGeom prst="roundRect">
            <a:avLst>
              <a:gd name="adj" fmla="val 8000"/>
            </a:avLst>
          </a:prstGeom>
          <a:solidFill>
            <a:schemeClr val="bg2"/>
          </a:solidFill>
          <a:ln/>
        </p:spPr>
        <p:txBody>
          <a:bodyPr/>
          <a:lstStyle/>
          <a:p>
            <a:endParaRPr lang="en-GB"/>
          </a:p>
        </p:txBody>
      </p:sp>
      <p:sp>
        <p:nvSpPr>
          <p:cNvPr id="28" name="Text 26"/>
          <p:cNvSpPr txBox="1"/>
          <p:nvPr/>
        </p:nvSpPr>
        <p:spPr>
          <a:xfrm>
            <a:off x="640080" y="3017520"/>
            <a:ext cx="3657600" cy="914400"/>
          </a:xfrm>
          <a:prstGeom prst="rect">
            <a:avLst/>
          </a:prstGeom>
          <a:noFill/>
          <a:ln/>
        </p:spPr>
        <p:txBody>
          <a:bodyPr wrap="square" lIns="0" tIns="0" rIns="0" bIns="0" rtlCol="0" anchor="ctr"/>
          <a:lstStyle/>
          <a:p>
            <a:pPr marL="0" indent="0">
              <a:buNone/>
            </a:pPr>
            <a:r>
              <a:rPr lang="en-US" sz="1200" b="1" dirty="0">
                <a:solidFill>
                  <a:schemeClr val="tx1"/>
                </a:solidFill>
              </a:rPr>
              <a:t>In scope: </a:t>
            </a:r>
            <a:r>
              <a:rPr lang="en-US" sz="1200" dirty="0">
                <a:solidFill>
                  <a:schemeClr val="tx1"/>
                </a:solidFill>
              </a:rPr>
              <a:t>risk-scoring model, behavioural drivers, evaluation, Streamlit prototype</a:t>
            </a:r>
            <a:endParaRPr lang="en-US" sz="1200" dirty="0"/>
          </a:p>
        </p:txBody>
      </p:sp>
      <p:sp>
        <p:nvSpPr>
          <p:cNvPr id="29" name="card"/>
          <p:cNvSpPr/>
          <p:nvPr/>
        </p:nvSpPr>
        <p:spPr>
          <a:xfrm>
            <a:off x="4663440" y="3017520"/>
            <a:ext cx="4023360" cy="914400"/>
          </a:xfrm>
          <a:prstGeom prst="roundRect">
            <a:avLst>
              <a:gd name="adj" fmla="val 8000"/>
            </a:avLst>
          </a:prstGeom>
          <a:solidFill>
            <a:schemeClr val="bg2"/>
          </a:solidFill>
          <a:ln/>
        </p:spPr>
        <p:txBody>
          <a:bodyPr/>
          <a:lstStyle/>
          <a:p>
            <a:endParaRPr lang="en-GB"/>
          </a:p>
        </p:txBody>
      </p:sp>
      <p:sp>
        <p:nvSpPr>
          <p:cNvPr id="30" name="Text 28"/>
          <p:cNvSpPr txBox="1"/>
          <p:nvPr/>
        </p:nvSpPr>
        <p:spPr>
          <a:xfrm>
            <a:off x="4846320" y="3017520"/>
            <a:ext cx="3657600" cy="914400"/>
          </a:xfrm>
          <a:prstGeom prst="rect">
            <a:avLst/>
          </a:prstGeom>
          <a:noFill/>
          <a:ln/>
        </p:spPr>
        <p:txBody>
          <a:bodyPr wrap="square" lIns="0" tIns="0" rIns="0" bIns="0" rtlCol="0" anchor="ctr"/>
          <a:lstStyle/>
          <a:p>
            <a:pPr marL="0" indent="0">
              <a:buNone/>
            </a:pPr>
            <a:r>
              <a:rPr lang="en-US" sz="1200" b="1" dirty="0">
                <a:solidFill>
                  <a:schemeClr val="accent4"/>
                </a:solidFill>
              </a:rPr>
              <a:t>Out of scope: </a:t>
            </a:r>
            <a:r>
              <a:rPr lang="en-US" sz="1200" dirty="0">
                <a:solidFill>
                  <a:schemeClr val="accent4"/>
                </a:solidFill>
              </a:rPr>
              <a:t>live payment integration, automatic blocking, retraining pipeline</a:t>
            </a:r>
            <a:endParaRPr lang="en-US" sz="1200" dirty="0"/>
          </a:p>
        </p:txBody>
      </p:sp>
      <p:sp>
        <p:nvSpPr>
          <p:cNvPr id="31"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32" name="Text 30"/>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A complete prototype: question → clean data → insight → validated model → working tool.</a:t>
            </a:r>
            <a:endParaRPr lang="en-US" sz="13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5</a:t>
            </a:fld>
            <a:endParaRPr lang="en-US"/>
          </a:p>
        </p:txBody>
      </p:sp>
      <p:sp>
        <p:nvSpPr>
          <p:cNvPr id="37" name="stepIcon">
            <a:extLst>
              <a:ext uri="{FF2B5EF4-FFF2-40B4-BE49-F238E27FC236}">
                <a16:creationId xmlns:a16="http://schemas.microsoft.com/office/drawing/2014/main" id="{ECD77EA5-77DD-A8D2-E3B4-04B8591A4FA2}"/>
              </a:ext>
            </a:extLst>
          </p:cNvPr>
          <p:cNvSpPr/>
          <p:nvPr/>
        </p:nvSpPr>
        <p:spPr>
          <a:xfrm>
            <a:off x="7799832" y="1097280"/>
            <a:ext cx="548640" cy="548640"/>
          </a:xfrm>
          <a:prstGeom prst="ellipse">
            <a:avLst/>
          </a:prstGeom>
          <a:solidFill>
            <a:schemeClr val="tx1"/>
          </a:solidFill>
          <a:ln/>
        </p:spPr>
        <p:txBody>
          <a:bodyPr/>
          <a:lstStyle/>
          <a:p>
            <a:endParaRPr lang="en-GB"/>
          </a:p>
        </p:txBody>
      </p:sp>
      <p:sp>
        <p:nvSpPr>
          <p:cNvPr id="39" name="Text 18">
            <a:extLst>
              <a:ext uri="{FF2B5EF4-FFF2-40B4-BE49-F238E27FC236}">
                <a16:creationId xmlns:a16="http://schemas.microsoft.com/office/drawing/2014/main" id="{8D407C97-DE0E-7BC0-D87E-A4445D558ADA}"/>
              </a:ext>
            </a:extLst>
          </p:cNvPr>
          <p:cNvSpPr txBox="1"/>
          <p:nvPr/>
        </p:nvSpPr>
        <p:spPr>
          <a:xfrm>
            <a:off x="7799832" y="109728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Aim</a:t>
            </a:r>
            <a:endParaRPr lang="en-US" sz="2000" dirty="0"/>
          </a:p>
        </p:txBody>
      </p:sp>
      <p:sp>
        <p:nvSpPr>
          <p:cNvPr id="3" name="card"/>
          <p:cNvSpPr/>
          <p:nvPr/>
        </p:nvSpPr>
        <p:spPr>
          <a:xfrm>
            <a:off x="457200" y="1143000"/>
            <a:ext cx="4023360" cy="1188720"/>
          </a:xfrm>
          <a:prstGeom prst="roundRect">
            <a:avLst>
              <a:gd name="adj" fmla="val 6154"/>
            </a:avLst>
          </a:prstGeom>
          <a:solidFill>
            <a:schemeClr val="bg2"/>
          </a:solidFill>
          <a:ln/>
        </p:spPr>
        <p:txBody>
          <a:bodyPr/>
          <a:lstStyle/>
          <a:p>
            <a:endParaRPr lang="en-GB"/>
          </a:p>
        </p:txBody>
      </p:sp>
      <p:sp>
        <p:nvSpPr>
          <p:cNvPr id="4" name="objIcon"/>
          <p:cNvSpPr/>
          <p:nvPr/>
        </p:nvSpPr>
        <p:spPr>
          <a:xfrm>
            <a:off x="640080" y="1463040"/>
            <a:ext cx="548640" cy="548640"/>
          </a:xfrm>
          <a:prstGeom prst="ellipse">
            <a:avLst/>
          </a:prstGeom>
          <a:solidFill>
            <a:schemeClr val="tx1"/>
          </a:solidFill>
          <a:ln/>
        </p:spPr>
        <p:txBody>
          <a:bodyPr/>
          <a:lstStyle/>
          <a:p>
            <a:endParaRPr lang="en-GB"/>
          </a:p>
        </p:txBody>
      </p:sp>
      <p:sp>
        <p:nvSpPr>
          <p:cNvPr id="5" name="Text 3"/>
          <p:cNvSpPr txBox="1"/>
          <p:nvPr/>
        </p:nvSpPr>
        <p:spPr>
          <a:xfrm>
            <a:off x="640080" y="14630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371600" y="1280160"/>
            <a:ext cx="2926080" cy="365760"/>
          </a:xfrm>
          <a:prstGeom prst="rect">
            <a:avLst/>
          </a:prstGeom>
          <a:noFill/>
          <a:ln/>
        </p:spPr>
        <p:txBody>
          <a:bodyPr wrap="square" lIns="0" tIns="0" rIns="0" bIns="0" rtlCol="0" anchor="t"/>
          <a:lstStyle/>
          <a:p>
            <a:pPr marL="0" indent="0">
              <a:buNone/>
            </a:pPr>
            <a:r>
              <a:rPr lang="en-US" sz="1500" b="1" dirty="0">
                <a:solidFill>
                  <a:schemeClr val="accent1"/>
                </a:solidFill>
              </a:rPr>
              <a:t>Measure</a:t>
            </a:r>
            <a:endParaRPr lang="en-US" sz="1500" dirty="0"/>
          </a:p>
        </p:txBody>
      </p:sp>
      <p:sp>
        <p:nvSpPr>
          <p:cNvPr id="7" name="Text 5"/>
          <p:cNvSpPr txBox="1"/>
          <p:nvPr/>
        </p:nvSpPr>
        <p:spPr>
          <a:xfrm>
            <a:off x="1371600" y="1645920"/>
            <a:ext cx="2926080" cy="594360"/>
          </a:xfrm>
          <a:prstGeom prst="rect">
            <a:avLst/>
          </a:prstGeom>
          <a:noFill/>
          <a:ln/>
        </p:spPr>
        <p:txBody>
          <a:bodyPr wrap="square" lIns="0" tIns="0" rIns="0" bIns="0" rtlCol="0" anchor="t"/>
          <a:lstStyle/>
          <a:p>
            <a:pPr marL="0" indent="0">
              <a:buNone/>
            </a:pPr>
            <a:r>
              <a:rPr lang="en-US" sz="1250" dirty="0">
                <a:solidFill>
                  <a:schemeClr val="tx1"/>
                </a:solidFill>
              </a:rPr>
              <a:t>Assign each transaction a fraud probability from account and transaction behaviour</a:t>
            </a:r>
            <a:endParaRPr lang="en-US" sz="1250" dirty="0"/>
          </a:p>
        </p:txBody>
      </p:sp>
      <p:sp>
        <p:nvSpPr>
          <p:cNvPr id="8" name="card"/>
          <p:cNvSpPr/>
          <p:nvPr/>
        </p:nvSpPr>
        <p:spPr>
          <a:xfrm>
            <a:off x="4663440" y="1143000"/>
            <a:ext cx="4023360" cy="1188720"/>
          </a:xfrm>
          <a:prstGeom prst="roundRect">
            <a:avLst>
              <a:gd name="adj" fmla="val 6154"/>
            </a:avLst>
          </a:prstGeom>
          <a:solidFill>
            <a:schemeClr val="bg2"/>
          </a:solidFill>
          <a:ln/>
        </p:spPr>
        <p:txBody>
          <a:bodyPr/>
          <a:lstStyle/>
          <a:p>
            <a:endParaRPr lang="en-GB"/>
          </a:p>
        </p:txBody>
      </p:sp>
      <p:sp>
        <p:nvSpPr>
          <p:cNvPr id="9" name="objIcon"/>
          <p:cNvSpPr/>
          <p:nvPr/>
        </p:nvSpPr>
        <p:spPr>
          <a:xfrm>
            <a:off x="4846320" y="1463040"/>
            <a:ext cx="548640" cy="548640"/>
          </a:xfrm>
          <a:prstGeom prst="ellipse">
            <a:avLst/>
          </a:prstGeom>
          <a:solidFill>
            <a:schemeClr val="tx1"/>
          </a:solidFill>
          <a:ln/>
        </p:spPr>
        <p:txBody>
          <a:bodyPr/>
          <a:lstStyle/>
          <a:p>
            <a:endParaRPr lang="en-GB"/>
          </a:p>
        </p:txBody>
      </p:sp>
      <p:sp>
        <p:nvSpPr>
          <p:cNvPr id="10" name="Text 8"/>
          <p:cNvSpPr txBox="1"/>
          <p:nvPr/>
        </p:nvSpPr>
        <p:spPr>
          <a:xfrm>
            <a:off x="4846320" y="14630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5577840" y="1280160"/>
            <a:ext cx="2926080" cy="365760"/>
          </a:xfrm>
          <a:prstGeom prst="rect">
            <a:avLst/>
          </a:prstGeom>
          <a:noFill/>
          <a:ln/>
        </p:spPr>
        <p:txBody>
          <a:bodyPr wrap="square" lIns="0" tIns="0" rIns="0" bIns="0" rtlCol="0" anchor="t"/>
          <a:lstStyle/>
          <a:p>
            <a:pPr marL="0" indent="0">
              <a:buNone/>
            </a:pPr>
            <a:r>
              <a:rPr lang="en-US" sz="1500" b="1" dirty="0">
                <a:solidFill>
                  <a:schemeClr val="accent1"/>
                </a:solidFill>
              </a:rPr>
              <a:t>Analyse</a:t>
            </a:r>
            <a:endParaRPr lang="en-US" sz="1500" dirty="0"/>
          </a:p>
        </p:txBody>
      </p:sp>
      <p:sp>
        <p:nvSpPr>
          <p:cNvPr id="12" name="Text 10"/>
          <p:cNvSpPr txBox="1"/>
          <p:nvPr/>
        </p:nvSpPr>
        <p:spPr>
          <a:xfrm>
            <a:off x="5577840" y="1645920"/>
            <a:ext cx="2926080" cy="594360"/>
          </a:xfrm>
          <a:prstGeom prst="rect">
            <a:avLst/>
          </a:prstGeom>
          <a:noFill/>
          <a:ln/>
        </p:spPr>
        <p:txBody>
          <a:bodyPr wrap="square" lIns="0" tIns="0" rIns="0" bIns="0" rtlCol="0" anchor="t"/>
          <a:lstStyle/>
          <a:p>
            <a:pPr marL="0" indent="0">
              <a:buNone/>
            </a:pPr>
            <a:r>
              <a:rPr lang="en-US" sz="1250" dirty="0">
                <a:solidFill>
                  <a:schemeClr val="tx1"/>
                </a:solidFill>
              </a:rPr>
              <a:t>Identify which behavioural signals separate fraud from legitimate activity</a:t>
            </a:r>
            <a:endParaRPr lang="en-US" sz="1250" dirty="0"/>
          </a:p>
        </p:txBody>
      </p:sp>
      <p:sp>
        <p:nvSpPr>
          <p:cNvPr id="13" name="card"/>
          <p:cNvSpPr/>
          <p:nvPr/>
        </p:nvSpPr>
        <p:spPr>
          <a:xfrm>
            <a:off x="457200" y="2514600"/>
            <a:ext cx="4023360" cy="1188720"/>
          </a:xfrm>
          <a:prstGeom prst="roundRect">
            <a:avLst>
              <a:gd name="adj" fmla="val 6154"/>
            </a:avLst>
          </a:prstGeom>
          <a:solidFill>
            <a:schemeClr val="bg2"/>
          </a:solidFill>
          <a:ln/>
        </p:spPr>
        <p:txBody>
          <a:bodyPr/>
          <a:lstStyle/>
          <a:p>
            <a:endParaRPr lang="en-GB"/>
          </a:p>
        </p:txBody>
      </p:sp>
      <p:sp>
        <p:nvSpPr>
          <p:cNvPr id="14" name="objIcon"/>
          <p:cNvSpPr/>
          <p:nvPr/>
        </p:nvSpPr>
        <p:spPr>
          <a:xfrm>
            <a:off x="640080" y="2834640"/>
            <a:ext cx="548640" cy="548640"/>
          </a:xfrm>
          <a:prstGeom prst="ellipse">
            <a:avLst/>
          </a:prstGeom>
          <a:solidFill>
            <a:schemeClr val="tx1"/>
          </a:solidFill>
          <a:ln/>
        </p:spPr>
        <p:txBody>
          <a:bodyPr/>
          <a:lstStyle/>
          <a:p>
            <a:endParaRPr lang="en-GB"/>
          </a:p>
        </p:txBody>
      </p:sp>
      <p:sp>
        <p:nvSpPr>
          <p:cNvPr id="15" name="Text 13"/>
          <p:cNvSpPr txBox="1"/>
          <p:nvPr/>
        </p:nvSpPr>
        <p:spPr>
          <a:xfrm>
            <a:off x="640080" y="28346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1371600" y="2651760"/>
            <a:ext cx="2926080" cy="365760"/>
          </a:xfrm>
          <a:prstGeom prst="rect">
            <a:avLst/>
          </a:prstGeom>
          <a:noFill/>
          <a:ln/>
        </p:spPr>
        <p:txBody>
          <a:bodyPr wrap="square" lIns="0" tIns="0" rIns="0" bIns="0" rtlCol="0" anchor="t"/>
          <a:lstStyle/>
          <a:p>
            <a:pPr marL="0" indent="0">
              <a:buNone/>
            </a:pPr>
            <a:r>
              <a:rPr lang="en-US" sz="1500" b="1" dirty="0">
                <a:solidFill>
                  <a:schemeClr val="accent1"/>
                </a:solidFill>
              </a:rPr>
              <a:t>Predict</a:t>
            </a:r>
            <a:endParaRPr lang="en-US" sz="1500" dirty="0"/>
          </a:p>
        </p:txBody>
      </p:sp>
      <p:sp>
        <p:nvSpPr>
          <p:cNvPr id="17" name="Text 15"/>
          <p:cNvSpPr txBox="1"/>
          <p:nvPr/>
        </p:nvSpPr>
        <p:spPr>
          <a:xfrm>
            <a:off x="1371600" y="3017520"/>
            <a:ext cx="2926080" cy="594360"/>
          </a:xfrm>
          <a:prstGeom prst="rect">
            <a:avLst/>
          </a:prstGeom>
          <a:noFill/>
          <a:ln/>
        </p:spPr>
        <p:txBody>
          <a:bodyPr wrap="square" lIns="0" tIns="0" rIns="0" bIns="0" rtlCol="0" anchor="t"/>
          <a:lstStyle/>
          <a:p>
            <a:pPr marL="0" indent="0">
              <a:buNone/>
            </a:pPr>
            <a:r>
              <a:rPr lang="en-US" sz="1250" dirty="0">
                <a:solidFill>
                  <a:schemeClr val="tx1"/>
                </a:solidFill>
              </a:rPr>
              <a:t>Train and validate Logistic Regression (baseline) vs Random Forest (primary)</a:t>
            </a:r>
            <a:endParaRPr lang="en-US" sz="1250" dirty="0"/>
          </a:p>
        </p:txBody>
      </p:sp>
      <p:sp>
        <p:nvSpPr>
          <p:cNvPr id="18" name="card"/>
          <p:cNvSpPr/>
          <p:nvPr/>
        </p:nvSpPr>
        <p:spPr>
          <a:xfrm>
            <a:off x="4663440" y="2514600"/>
            <a:ext cx="4023360" cy="1188720"/>
          </a:xfrm>
          <a:prstGeom prst="roundRect">
            <a:avLst>
              <a:gd name="adj" fmla="val 6154"/>
            </a:avLst>
          </a:prstGeom>
          <a:solidFill>
            <a:schemeClr val="bg2"/>
          </a:solidFill>
          <a:ln/>
        </p:spPr>
        <p:txBody>
          <a:bodyPr/>
          <a:lstStyle/>
          <a:p>
            <a:endParaRPr lang="en-GB"/>
          </a:p>
        </p:txBody>
      </p:sp>
      <p:sp>
        <p:nvSpPr>
          <p:cNvPr id="19" name="objIcon"/>
          <p:cNvSpPr/>
          <p:nvPr/>
        </p:nvSpPr>
        <p:spPr>
          <a:xfrm>
            <a:off x="4846320" y="2834640"/>
            <a:ext cx="548640" cy="548640"/>
          </a:xfrm>
          <a:prstGeom prst="ellipse">
            <a:avLst/>
          </a:prstGeom>
          <a:solidFill>
            <a:schemeClr val="tx1"/>
          </a:solidFill>
          <a:ln/>
        </p:spPr>
        <p:txBody>
          <a:bodyPr/>
          <a:lstStyle/>
          <a:p>
            <a:endParaRPr lang="en-GB"/>
          </a:p>
        </p:txBody>
      </p:sp>
      <p:sp>
        <p:nvSpPr>
          <p:cNvPr id="20" name="Text 18"/>
          <p:cNvSpPr txBox="1"/>
          <p:nvPr/>
        </p:nvSpPr>
        <p:spPr>
          <a:xfrm>
            <a:off x="4846320" y="283464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5577840" y="2651760"/>
            <a:ext cx="2926080" cy="365760"/>
          </a:xfrm>
          <a:prstGeom prst="rect">
            <a:avLst/>
          </a:prstGeom>
          <a:noFill/>
          <a:ln/>
        </p:spPr>
        <p:txBody>
          <a:bodyPr wrap="square" lIns="0" tIns="0" rIns="0" bIns="0" rtlCol="0" anchor="t"/>
          <a:lstStyle/>
          <a:p>
            <a:pPr marL="0" indent="0">
              <a:buNone/>
            </a:pPr>
            <a:r>
              <a:rPr lang="en-US" sz="1500" b="1" dirty="0">
                <a:solidFill>
                  <a:schemeClr val="accent1"/>
                </a:solidFill>
              </a:rPr>
              <a:t>Apply</a:t>
            </a:r>
            <a:endParaRPr lang="en-US" sz="1500" dirty="0"/>
          </a:p>
        </p:txBody>
      </p:sp>
      <p:sp>
        <p:nvSpPr>
          <p:cNvPr id="22" name="Text 20"/>
          <p:cNvSpPr txBox="1"/>
          <p:nvPr/>
        </p:nvSpPr>
        <p:spPr>
          <a:xfrm>
            <a:off x="5577840" y="3017520"/>
            <a:ext cx="2926080" cy="594360"/>
          </a:xfrm>
          <a:prstGeom prst="rect">
            <a:avLst/>
          </a:prstGeom>
          <a:noFill/>
          <a:ln/>
        </p:spPr>
        <p:txBody>
          <a:bodyPr wrap="square" lIns="0" tIns="0" rIns="0" bIns="0" rtlCol="0" anchor="t"/>
          <a:lstStyle/>
          <a:p>
            <a:pPr marL="0" indent="0">
              <a:buNone/>
            </a:pPr>
            <a:r>
              <a:rPr lang="en-US" sz="1250" dirty="0">
                <a:solidFill>
                  <a:schemeClr val="tx1"/>
                </a:solidFill>
              </a:rPr>
              <a:t>Deploy a prioritised, explainable review queue in Streamlit</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The data</a:t>
            </a:r>
            <a:r>
              <a:rPr lang="en-US" dirty="0"/>
              <a:t>sets</a:t>
            </a:r>
            <a:endParaRPr lang="en-US" sz="2000" dirty="0"/>
          </a:p>
        </p:txBody>
      </p:sp>
      <p:sp>
        <p:nvSpPr>
          <p:cNvPr id="3" name="card"/>
          <p:cNvSpPr/>
          <p:nvPr/>
        </p:nvSpPr>
        <p:spPr>
          <a:xfrm>
            <a:off x="457200" y="1051560"/>
            <a:ext cx="1920240" cy="1051560"/>
          </a:xfrm>
          <a:prstGeom prst="roundRect">
            <a:avLst>
              <a:gd name="adj" fmla="val 6957"/>
            </a:avLst>
          </a:prstGeom>
          <a:solidFill>
            <a:schemeClr val="bg2"/>
          </a:solidFill>
          <a:ln/>
        </p:spPr>
        <p:txBody>
          <a:bodyPr/>
          <a:lstStyle/>
          <a:p>
            <a:endParaRPr lang="en-GB"/>
          </a:p>
        </p:txBody>
      </p:sp>
      <p:sp>
        <p:nvSpPr>
          <p:cNvPr id="4" name="Text 2"/>
          <p:cNvSpPr txBox="1"/>
          <p:nvPr/>
        </p:nvSpPr>
        <p:spPr>
          <a:xfrm>
            <a:off x="640080" y="1124712"/>
            <a:ext cx="1554480" cy="566928"/>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126,000</a:t>
            </a:r>
            <a:endParaRPr lang="en-US" sz="3000" dirty="0"/>
          </a:p>
        </p:txBody>
      </p:sp>
      <p:sp>
        <p:nvSpPr>
          <p:cNvPr id="5" name="Text 3"/>
          <p:cNvSpPr txBox="1"/>
          <p:nvPr/>
        </p:nvSpPr>
        <p:spPr>
          <a:xfrm>
            <a:off x="640080" y="1691640"/>
            <a:ext cx="1554480" cy="365760"/>
          </a:xfrm>
          <a:prstGeom prst="rect">
            <a:avLst/>
          </a:prstGeom>
          <a:noFill/>
          <a:ln/>
        </p:spPr>
        <p:txBody>
          <a:bodyPr wrap="square" lIns="0" tIns="0" rIns="0" bIns="0" rtlCol="0" anchor="t"/>
          <a:lstStyle/>
          <a:p>
            <a:pPr marL="0" indent="0">
              <a:buNone/>
            </a:pPr>
            <a:r>
              <a:rPr lang="en-US" sz="1100" dirty="0">
                <a:solidFill>
                  <a:schemeClr val="accent4"/>
                </a:solidFill>
              </a:rPr>
              <a:t>transactions</a:t>
            </a:r>
            <a:endParaRPr lang="en-US" sz="1100" dirty="0"/>
          </a:p>
        </p:txBody>
      </p:sp>
      <p:sp>
        <p:nvSpPr>
          <p:cNvPr id="6" name="card"/>
          <p:cNvSpPr/>
          <p:nvPr/>
        </p:nvSpPr>
        <p:spPr>
          <a:xfrm>
            <a:off x="2560320" y="1051560"/>
            <a:ext cx="1920240" cy="1051560"/>
          </a:xfrm>
          <a:prstGeom prst="roundRect">
            <a:avLst>
              <a:gd name="adj" fmla="val 6957"/>
            </a:avLst>
          </a:prstGeom>
          <a:solidFill>
            <a:schemeClr val="bg2"/>
          </a:solidFill>
          <a:ln/>
        </p:spPr>
        <p:txBody>
          <a:bodyPr/>
          <a:lstStyle/>
          <a:p>
            <a:endParaRPr lang="en-GB"/>
          </a:p>
        </p:txBody>
      </p:sp>
      <p:sp>
        <p:nvSpPr>
          <p:cNvPr id="7" name="Text 5"/>
          <p:cNvSpPr txBox="1"/>
          <p:nvPr/>
        </p:nvSpPr>
        <p:spPr>
          <a:xfrm>
            <a:off x="2743200" y="1124712"/>
            <a:ext cx="1554480" cy="566928"/>
          </a:xfrm>
          <a:prstGeom prst="rect">
            <a:avLst/>
          </a:prstGeom>
          <a:noFill/>
          <a:ln/>
        </p:spPr>
        <p:txBody>
          <a:bodyPr wrap="square" lIns="0" tIns="0" rIns="0" bIns="0" rtlCol="0" anchor="ctr"/>
          <a:lstStyle/>
          <a:p>
            <a:pPr marL="0" indent="0">
              <a:buNone/>
            </a:pPr>
            <a:r>
              <a:rPr lang="en-US" sz="3000" b="1" dirty="0">
                <a:solidFill>
                  <a:schemeClr val="tx1"/>
                </a:solidFill>
                <a:latin typeface="Arial" pitchFamily="34" charset="0"/>
                <a:ea typeface="Arial" pitchFamily="34" charset="-122"/>
                <a:cs typeface="Arial" pitchFamily="34" charset="-120"/>
              </a:rPr>
              <a:t>7,200</a:t>
            </a:r>
            <a:endParaRPr lang="en-US" sz="3000" dirty="0"/>
          </a:p>
        </p:txBody>
      </p:sp>
      <p:sp>
        <p:nvSpPr>
          <p:cNvPr id="8" name="Text 6"/>
          <p:cNvSpPr txBox="1"/>
          <p:nvPr/>
        </p:nvSpPr>
        <p:spPr>
          <a:xfrm>
            <a:off x="2743200" y="1691640"/>
            <a:ext cx="1554480" cy="365760"/>
          </a:xfrm>
          <a:prstGeom prst="rect">
            <a:avLst/>
          </a:prstGeom>
          <a:noFill/>
          <a:ln/>
        </p:spPr>
        <p:txBody>
          <a:bodyPr wrap="square" lIns="0" tIns="0" rIns="0" bIns="0" rtlCol="0" anchor="t"/>
          <a:lstStyle/>
          <a:p>
            <a:pPr marL="0" indent="0">
              <a:buNone/>
            </a:pPr>
            <a:r>
              <a:rPr lang="en-US" sz="1100" dirty="0">
                <a:solidFill>
                  <a:schemeClr val="accent4"/>
                </a:solidFill>
              </a:rPr>
              <a:t>accounts (4,735 individual · 2,465 business)</a:t>
            </a:r>
            <a:endParaRPr lang="en-US" sz="1100" dirty="0"/>
          </a:p>
        </p:txBody>
      </p:sp>
      <p:sp>
        <p:nvSpPr>
          <p:cNvPr id="9" name="card"/>
          <p:cNvSpPr/>
          <p:nvPr/>
        </p:nvSpPr>
        <p:spPr>
          <a:xfrm>
            <a:off x="4663440" y="1051560"/>
            <a:ext cx="1920240" cy="1051560"/>
          </a:xfrm>
          <a:prstGeom prst="roundRect">
            <a:avLst>
              <a:gd name="adj" fmla="val 6957"/>
            </a:avLst>
          </a:prstGeom>
          <a:solidFill>
            <a:schemeClr val="bg2"/>
          </a:solidFill>
          <a:ln/>
        </p:spPr>
        <p:txBody>
          <a:bodyPr/>
          <a:lstStyle/>
          <a:p>
            <a:endParaRPr lang="en-GB"/>
          </a:p>
        </p:txBody>
      </p:sp>
      <p:sp>
        <p:nvSpPr>
          <p:cNvPr id="10" name="Text 8"/>
          <p:cNvSpPr txBox="1"/>
          <p:nvPr/>
        </p:nvSpPr>
        <p:spPr>
          <a:xfrm>
            <a:off x="4846320" y="1124712"/>
            <a:ext cx="1554480" cy="566928"/>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3,352</a:t>
            </a:r>
            <a:endParaRPr lang="en-US" sz="3000" dirty="0"/>
          </a:p>
        </p:txBody>
      </p:sp>
      <p:sp>
        <p:nvSpPr>
          <p:cNvPr id="11" name="Text 9"/>
          <p:cNvSpPr txBox="1"/>
          <p:nvPr/>
        </p:nvSpPr>
        <p:spPr>
          <a:xfrm>
            <a:off x="4846320" y="1691640"/>
            <a:ext cx="1554480" cy="365760"/>
          </a:xfrm>
          <a:prstGeom prst="rect">
            <a:avLst/>
          </a:prstGeom>
          <a:noFill/>
          <a:ln/>
        </p:spPr>
        <p:txBody>
          <a:bodyPr wrap="square" lIns="0" tIns="0" rIns="0" bIns="0" rtlCol="0" anchor="t"/>
          <a:lstStyle/>
          <a:p>
            <a:pPr marL="0" indent="0">
              <a:buNone/>
            </a:pPr>
            <a:r>
              <a:rPr lang="en-US" sz="1100" dirty="0">
                <a:solidFill>
                  <a:schemeClr val="accent4"/>
                </a:solidFill>
              </a:rPr>
              <a:t>confirmed fraud cases (2.66%)</a:t>
            </a:r>
            <a:endParaRPr lang="en-US" sz="1100" dirty="0"/>
          </a:p>
        </p:txBody>
      </p:sp>
      <p:sp>
        <p:nvSpPr>
          <p:cNvPr id="12" name="card"/>
          <p:cNvSpPr/>
          <p:nvPr/>
        </p:nvSpPr>
        <p:spPr>
          <a:xfrm>
            <a:off x="6766560" y="1051560"/>
            <a:ext cx="1920240" cy="1051560"/>
          </a:xfrm>
          <a:prstGeom prst="roundRect">
            <a:avLst>
              <a:gd name="adj" fmla="val 6957"/>
            </a:avLst>
          </a:prstGeom>
          <a:solidFill>
            <a:schemeClr val="bg2"/>
          </a:solidFill>
          <a:ln/>
        </p:spPr>
        <p:txBody>
          <a:bodyPr/>
          <a:lstStyle/>
          <a:p>
            <a:endParaRPr lang="en-GB"/>
          </a:p>
        </p:txBody>
      </p:sp>
      <p:sp>
        <p:nvSpPr>
          <p:cNvPr id="13" name="Text 11"/>
          <p:cNvSpPr txBox="1"/>
          <p:nvPr/>
        </p:nvSpPr>
        <p:spPr>
          <a:xfrm>
            <a:off x="6949440" y="1124712"/>
            <a:ext cx="1554480" cy="566928"/>
          </a:xfrm>
          <a:prstGeom prst="rect">
            <a:avLst/>
          </a:prstGeom>
          <a:noFill/>
          <a:ln/>
        </p:spPr>
        <p:txBody>
          <a:bodyPr wrap="square" lIns="0" tIns="0" rIns="0" bIns="0" rtlCol="0" anchor="ctr"/>
          <a:lstStyle/>
          <a:p>
            <a:pPr marL="0" indent="0">
              <a:buNone/>
            </a:pPr>
            <a:r>
              <a:rPr lang="en-US" sz="3000" b="1" dirty="0">
                <a:solidFill>
                  <a:schemeClr val="accent2"/>
                </a:solidFill>
                <a:latin typeface="Arial" pitchFamily="34" charset="0"/>
                <a:ea typeface="Arial" pitchFamily="34" charset="-122"/>
                <a:cs typeface="Arial" pitchFamily="34" charset="-120"/>
              </a:rPr>
              <a:t>19 mo</a:t>
            </a:r>
            <a:endParaRPr lang="en-US" sz="3000" dirty="0"/>
          </a:p>
        </p:txBody>
      </p:sp>
      <p:sp>
        <p:nvSpPr>
          <p:cNvPr id="14" name="Text 12"/>
          <p:cNvSpPr txBox="1"/>
          <p:nvPr/>
        </p:nvSpPr>
        <p:spPr>
          <a:xfrm>
            <a:off x="6949440" y="1691640"/>
            <a:ext cx="1554480" cy="365760"/>
          </a:xfrm>
          <a:prstGeom prst="rect">
            <a:avLst/>
          </a:prstGeom>
          <a:noFill/>
          <a:ln/>
        </p:spPr>
        <p:txBody>
          <a:bodyPr wrap="square" lIns="0" tIns="0" rIns="0" bIns="0" rtlCol="0" anchor="t"/>
          <a:lstStyle/>
          <a:p>
            <a:pPr marL="0" indent="0">
              <a:buNone/>
            </a:pPr>
            <a:r>
              <a:rPr lang="en-US" sz="1100" dirty="0">
                <a:solidFill>
                  <a:schemeClr val="accent4"/>
                </a:solidFill>
              </a:rPr>
              <a:t>Feb 2025 – Aug 2026</a:t>
            </a:r>
            <a:endParaRPr lang="en-US" sz="1100" dirty="0"/>
          </a:p>
        </p:txBody>
      </p:sp>
      <p:sp>
        <p:nvSpPr>
          <p:cNvPr id="15" name="card"/>
          <p:cNvSpPr/>
          <p:nvPr/>
        </p:nvSpPr>
        <p:spPr>
          <a:xfrm>
            <a:off x="457200" y="2286000"/>
            <a:ext cx="4023360" cy="1645920"/>
          </a:xfrm>
          <a:prstGeom prst="roundRect">
            <a:avLst>
              <a:gd name="adj" fmla="val 4444"/>
            </a:avLst>
          </a:prstGeom>
          <a:solidFill>
            <a:schemeClr val="bg2"/>
          </a:solidFill>
          <a:ln/>
        </p:spPr>
        <p:txBody>
          <a:bodyPr/>
          <a:lstStyle/>
          <a:p>
            <a:endParaRPr lang="en-GB"/>
          </a:p>
        </p:txBody>
      </p:sp>
      <p:sp>
        <p:nvSpPr>
          <p:cNvPr id="16" name="Text 14"/>
          <p:cNvSpPr txBox="1"/>
          <p:nvPr/>
        </p:nvSpPr>
        <p:spPr>
          <a:xfrm>
            <a:off x="640080" y="2395728"/>
            <a:ext cx="3657600" cy="365760"/>
          </a:xfrm>
          <a:prstGeom prst="rect">
            <a:avLst/>
          </a:prstGeom>
          <a:noFill/>
          <a:ln/>
        </p:spPr>
        <p:txBody>
          <a:bodyPr wrap="square" lIns="0" tIns="0" rIns="0" bIns="0" rtlCol="0" anchor="t"/>
          <a:lstStyle/>
          <a:p>
            <a:pPr marL="0" indent="0">
              <a:buNone/>
            </a:pPr>
            <a:r>
              <a:rPr lang="en-US" sz="1400" b="1" dirty="0">
                <a:solidFill>
                  <a:schemeClr val="accent1"/>
                </a:solidFill>
              </a:rPr>
              <a:t>Transactions table (24 columns)</a:t>
            </a:r>
            <a:endParaRPr lang="en-US" sz="1400" dirty="0"/>
          </a:p>
        </p:txBody>
      </p:sp>
      <p:sp>
        <p:nvSpPr>
          <p:cNvPr id="17" name="Text 15"/>
          <p:cNvSpPr txBox="1"/>
          <p:nvPr/>
        </p:nvSpPr>
        <p:spPr>
          <a:xfrm>
            <a:off x="640080" y="2788920"/>
            <a:ext cx="3657600" cy="1051560"/>
          </a:xfrm>
          <a:prstGeom prst="rect">
            <a:avLst/>
          </a:prstGeom>
          <a:noFill/>
          <a:ln/>
        </p:spPr>
        <p:txBody>
          <a:bodyPr wrap="square" lIns="0" tIns="0" rIns="0" bIns="0" rtlCol="0" anchor="t"/>
          <a:lstStyle/>
          <a:p>
            <a:pPr marL="0" indent="0">
              <a:buNone/>
            </a:pPr>
            <a:r>
              <a:rPr lang="en-US" sz="1200" dirty="0">
                <a:solidFill>
                  <a:schemeClr val="tx1"/>
                </a:solidFill>
              </a:rPr>
              <a:t>Amount, currency, time, channel, merchant category, country, device, velocity in the past hour, size vs. 30-day average, status, fraud label</a:t>
            </a:r>
            <a:endParaRPr lang="en-US" sz="1200" dirty="0"/>
          </a:p>
        </p:txBody>
      </p:sp>
      <p:sp>
        <p:nvSpPr>
          <p:cNvPr id="18" name="card"/>
          <p:cNvSpPr/>
          <p:nvPr/>
        </p:nvSpPr>
        <p:spPr>
          <a:xfrm>
            <a:off x="4663440" y="2286000"/>
            <a:ext cx="4023360" cy="1645920"/>
          </a:xfrm>
          <a:prstGeom prst="roundRect">
            <a:avLst>
              <a:gd name="adj" fmla="val 4444"/>
            </a:avLst>
          </a:prstGeom>
          <a:solidFill>
            <a:schemeClr val="bg2"/>
          </a:solidFill>
          <a:ln/>
        </p:spPr>
        <p:txBody>
          <a:bodyPr/>
          <a:lstStyle/>
          <a:p>
            <a:endParaRPr lang="en-GB"/>
          </a:p>
        </p:txBody>
      </p:sp>
      <p:sp>
        <p:nvSpPr>
          <p:cNvPr id="19" name="Text 17"/>
          <p:cNvSpPr txBox="1"/>
          <p:nvPr/>
        </p:nvSpPr>
        <p:spPr>
          <a:xfrm>
            <a:off x="4846320" y="2395728"/>
            <a:ext cx="3657600" cy="365760"/>
          </a:xfrm>
          <a:prstGeom prst="rect">
            <a:avLst/>
          </a:prstGeom>
          <a:noFill/>
          <a:ln/>
        </p:spPr>
        <p:txBody>
          <a:bodyPr wrap="square" lIns="0" tIns="0" rIns="0" bIns="0" rtlCol="0" anchor="t"/>
          <a:lstStyle/>
          <a:p>
            <a:pPr marL="0" indent="0">
              <a:buNone/>
            </a:pPr>
            <a:r>
              <a:rPr lang="en-US" sz="1400" b="1" dirty="0">
                <a:solidFill>
                  <a:schemeClr val="accent1"/>
                </a:solidFill>
              </a:rPr>
              <a:t>Accounts table (8 columns)</a:t>
            </a:r>
            <a:endParaRPr lang="en-US" sz="1400" dirty="0"/>
          </a:p>
        </p:txBody>
      </p:sp>
      <p:sp>
        <p:nvSpPr>
          <p:cNvPr id="20" name="Text 18"/>
          <p:cNvSpPr txBox="1"/>
          <p:nvPr/>
        </p:nvSpPr>
        <p:spPr>
          <a:xfrm>
            <a:off x="4846320" y="2788920"/>
            <a:ext cx="3657600" cy="1051560"/>
          </a:xfrm>
          <a:prstGeom prst="rect">
            <a:avLst/>
          </a:prstGeom>
          <a:noFill/>
          <a:ln/>
        </p:spPr>
        <p:txBody>
          <a:bodyPr wrap="square" lIns="0" tIns="0" rIns="0" bIns="0" rtlCol="0" anchor="t"/>
          <a:lstStyle/>
          <a:p>
            <a:pPr marL="0" indent="0">
              <a:buNone/>
            </a:pPr>
            <a:r>
              <a:rPr lang="en-US" sz="1200" dirty="0">
                <a:solidFill>
                  <a:schemeClr val="tx1"/>
                </a:solidFill>
              </a:rPr>
              <a:t>Account type, KYC tier, home country, currency, opening date, personal spend baseline</a:t>
            </a:r>
            <a:endParaRPr lang="en-US" sz="1200" dirty="0"/>
          </a:p>
        </p:txBody>
      </p:sp>
      <p:sp>
        <p:nvSpPr>
          <p:cNvPr id="21"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22" name="Text 20"/>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Joined on account ID, every payment can be judged against its own customer's history.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Data cleaning</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304288"/>
        </p:xfrm>
        <a:graphic>
          <a:graphicData uri="http://schemas.openxmlformats.org/drawingml/2006/table">
            <a:tbl>
              <a:tblPr/>
              <a:tblGrid>
                <a:gridCol w="3931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29184">
                <a:tc>
                  <a:txBody>
                    <a:bodyPr/>
                    <a:lstStyle/>
                    <a:p>
                      <a:pPr marL="0" indent="0">
                        <a:buNone/>
                      </a:pPr>
                      <a:r>
                        <a:rPr lang="en-US" sz="1150" b="1" dirty="0">
                          <a:solidFill>
                            <a:schemeClr val="bg1"/>
                          </a:solidFill>
                        </a:rPr>
                        <a:t>Issue found</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1"/>
                    </a:solidFill>
                  </a:tcPr>
                </a:tc>
                <a:tc>
                  <a:txBody>
                    <a:bodyPr/>
                    <a:lstStyle/>
                    <a:p>
                      <a:pPr marL="0" indent="0">
                        <a:buNone/>
                      </a:pPr>
                      <a:r>
                        <a:rPr lang="en-US" sz="1150" b="1" dirty="0">
                          <a:solidFill>
                            <a:schemeClr val="bg1"/>
                          </a:solidFill>
                        </a:rPr>
                        <a:t>Rows</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1"/>
                    </a:solidFill>
                  </a:tcPr>
                </a:tc>
                <a:tc>
                  <a:txBody>
                    <a:bodyPr/>
                    <a:lstStyle/>
                    <a:p>
                      <a:pPr marL="0" indent="0">
                        <a:buNone/>
                      </a:pPr>
                      <a:r>
                        <a:rPr lang="en-US" sz="1150" b="1" dirty="0">
                          <a:solidFill>
                            <a:schemeClr val="bg1"/>
                          </a:solidFill>
                        </a:rPr>
                        <a:t>Treatment</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chemeClr val="tx1"/>
                          </a:solidFill>
                        </a:rPr>
                        <a:t>Merchant blank on P2P / Payroll (structural)</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27,832</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Labelled 'N/A – No Merchant'</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buNone/>
                      </a:pPr>
                      <a:r>
                        <a:rPr lang="en-US" sz="1150" dirty="0">
                          <a:solidFill>
                            <a:schemeClr val="tx1"/>
                          </a:solidFill>
                        </a:rPr>
                        <a:t>Merchant blank elsewhere (genuine gap)</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778</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Labelled 'Unknown'</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29184">
                <a:tc>
                  <a:txBody>
                    <a:bodyPr/>
                    <a:lstStyle/>
                    <a:p>
                      <a:pPr marL="0" indent="0">
                        <a:buNone/>
                      </a:pPr>
                      <a:r>
                        <a:rPr lang="en-US" sz="1150" dirty="0">
                          <a:solidFill>
                            <a:schemeClr val="tx1"/>
                          </a:solidFill>
                        </a:rPr>
                        <a:t>Device not captured</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14,334</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Filled + new flag is_device_known</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9184">
                <a:tc>
                  <a:txBody>
                    <a:bodyPr/>
                    <a:lstStyle/>
                    <a:p>
                      <a:pPr marL="0" indent="0">
                        <a:buNone/>
                      </a:pPr>
                      <a:r>
                        <a:rPr lang="en-US" sz="1150" dirty="0">
                          <a:solidFill>
                            <a:schemeClr val="tx1"/>
                          </a:solidFill>
                        </a:rPr>
                        <a:t>Negative amounts (sign errors, mostly 'Completed')</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291</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Absolute value</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buNone/>
                      </a:pPr>
                      <a:r>
                        <a:rPr lang="en-US" sz="1150" dirty="0">
                          <a:solidFill>
                            <a:schemeClr val="tx1"/>
                          </a:solidFill>
                        </a:rPr>
                        <a:t>Negative 30-day average spend</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144</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Absolute value; ratio recomputed</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29184">
                <a:tc>
                  <a:txBody>
                    <a:bodyPr/>
                    <a:lstStyle/>
                    <a:p>
                      <a:pPr marL="0" indent="0">
                        <a:buNone/>
                      </a:pPr>
                      <a:r>
                        <a:rPr lang="en-US" sz="1150" dirty="0">
                          <a:solidFill>
                            <a:schemeClr val="tx1"/>
                          </a:solidFill>
                        </a:rPr>
                        <a:t>Duplicates / broken account links</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0</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Verified clean</a:t>
                      </a:r>
                      <a:endParaRPr lang="en-US" sz="115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5" name="Text 2"/>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126,000 rows in, 126,000 out; fraud rate held at 2.66%, proving no signal was lost.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EDA</a:t>
            </a:r>
            <a:endParaRPr lang="en-US" sz="2000" dirty="0"/>
          </a:p>
        </p:txBody>
      </p:sp>
      <p:sp>
        <p:nvSpPr>
          <p:cNvPr id="3" name="card"/>
          <p:cNvSpPr/>
          <p:nvPr/>
        </p:nvSpPr>
        <p:spPr>
          <a:xfrm>
            <a:off x="457200" y="1097280"/>
            <a:ext cx="2377440" cy="1051560"/>
          </a:xfrm>
          <a:prstGeom prst="roundRect">
            <a:avLst>
              <a:gd name="adj" fmla="val 6957"/>
            </a:avLst>
          </a:prstGeom>
          <a:solidFill>
            <a:schemeClr val="bg2"/>
          </a:solidFill>
          <a:ln/>
        </p:spPr>
        <p:txBody>
          <a:bodyPr/>
          <a:lstStyle/>
          <a:p>
            <a:endParaRPr lang="en-GB"/>
          </a:p>
        </p:txBody>
      </p:sp>
      <p:sp>
        <p:nvSpPr>
          <p:cNvPr id="4" name="Text 2"/>
          <p:cNvSpPr txBox="1"/>
          <p:nvPr/>
        </p:nvSpPr>
        <p:spPr>
          <a:xfrm>
            <a:off x="640080" y="1170432"/>
            <a:ext cx="2011680" cy="566928"/>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2.66%</a:t>
            </a:r>
            <a:endParaRPr lang="en-US" sz="3000" dirty="0"/>
          </a:p>
        </p:txBody>
      </p:sp>
      <p:sp>
        <p:nvSpPr>
          <p:cNvPr id="5" name="Text 3"/>
          <p:cNvSpPr txBox="1"/>
          <p:nvPr/>
        </p:nvSpPr>
        <p:spPr>
          <a:xfrm>
            <a:off x="640080" y="1737360"/>
            <a:ext cx="2011680" cy="365760"/>
          </a:xfrm>
          <a:prstGeom prst="rect">
            <a:avLst/>
          </a:prstGeom>
          <a:noFill/>
          <a:ln/>
        </p:spPr>
        <p:txBody>
          <a:bodyPr wrap="square" lIns="0" tIns="0" rIns="0" bIns="0" rtlCol="0" anchor="t"/>
          <a:lstStyle/>
          <a:p>
            <a:pPr marL="0" indent="0">
              <a:buNone/>
            </a:pPr>
            <a:r>
              <a:rPr lang="en-US" sz="1100" dirty="0">
                <a:solidFill>
                  <a:schemeClr val="accent4"/>
                </a:solidFill>
              </a:rPr>
              <a:t>of transactions are fraud (a rare event)</a:t>
            </a:r>
            <a:endParaRPr lang="en-US" sz="1100" dirty="0"/>
          </a:p>
        </p:txBody>
      </p:sp>
      <p:graphicFrame>
        <p:nvGraphicFramePr>
          <p:cNvPr id="7" name="Chart 0"/>
          <p:cNvGraphicFramePr/>
          <p:nvPr/>
        </p:nvGraphicFramePr>
        <p:xfrm>
          <a:off x="3108960" y="1005840"/>
          <a:ext cx="55778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8"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9" name="Text 6"/>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One prior transaction within the hour lifts fraud likelihood from 1.7% to over 88%.</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EDA</a:t>
            </a:r>
            <a:endParaRPr lang="en-US" sz="2000" dirty="0"/>
          </a:p>
        </p:txBody>
      </p:sp>
      <p:graphicFrame>
        <p:nvGraphicFramePr>
          <p:cNvPr id="3" name="Chart 0"/>
          <p:cNvGraphicFramePr/>
          <p:nvPr>
            <p:extLst>
              <p:ext uri="{D42A27DB-BD31-4B8C-83A1-F6EECF244321}">
                <p14:modId xmlns:p14="http://schemas.microsoft.com/office/powerpoint/2010/main" val="2684065755"/>
              </p:ext>
            </p:extLst>
          </p:nvPr>
        </p:nvGraphicFramePr>
        <p:xfrm>
          <a:off x="457200" y="1005840"/>
          <a:ext cx="52730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852160" y="1097280"/>
            <a:ext cx="2908663" cy="1051560"/>
          </a:xfrm>
          <a:prstGeom prst="roundRect">
            <a:avLst>
              <a:gd name="adj" fmla="val 6957"/>
            </a:avLst>
          </a:prstGeom>
          <a:solidFill>
            <a:schemeClr val="bg2"/>
          </a:solidFill>
          <a:ln/>
        </p:spPr>
        <p:txBody>
          <a:bodyPr/>
          <a:lstStyle/>
          <a:p>
            <a:endParaRPr lang="en-GB"/>
          </a:p>
        </p:txBody>
      </p:sp>
      <p:sp>
        <p:nvSpPr>
          <p:cNvPr id="5" name="Text 2"/>
          <p:cNvSpPr txBox="1"/>
          <p:nvPr/>
        </p:nvSpPr>
        <p:spPr>
          <a:xfrm>
            <a:off x="6035040" y="1170432"/>
            <a:ext cx="2468880" cy="566928"/>
          </a:xfrm>
          <a:prstGeom prst="rect">
            <a:avLst/>
          </a:prstGeom>
          <a:noFill/>
          <a:ln/>
        </p:spPr>
        <p:txBody>
          <a:bodyPr wrap="square" lIns="0" tIns="0" rIns="0" bIns="0" rtlCol="0" anchor="ctr"/>
          <a:lstStyle/>
          <a:p>
            <a:r>
              <a:rPr lang="en-US" sz="3000" b="1" dirty="0">
                <a:solidFill>
                  <a:schemeClr val="accent1"/>
                </a:solidFill>
                <a:latin typeface="Arial" pitchFamily="34" charset="0"/>
                <a:ea typeface="Arial" pitchFamily="34" charset="-122"/>
                <a:cs typeface="Arial" pitchFamily="34" charset="-120"/>
              </a:rPr>
              <a:t>6 </a:t>
            </a:r>
            <a:r>
              <a:rPr lang="en-US" sz="3200" dirty="0">
                <a:solidFill>
                  <a:schemeClr val="accent4"/>
                </a:solidFill>
              </a:rPr>
              <a:t>×</a:t>
            </a:r>
            <a:r>
              <a:rPr lang="en-US" sz="3000" b="1" dirty="0">
                <a:solidFill>
                  <a:schemeClr val="accent1"/>
                </a:solidFill>
                <a:latin typeface="Arial" pitchFamily="34" charset="0"/>
                <a:ea typeface="Arial" pitchFamily="34" charset="-122"/>
                <a:cs typeface="Arial" pitchFamily="34" charset="-120"/>
              </a:rPr>
              <a:t> </a:t>
            </a:r>
            <a:endParaRPr lang="en-US" sz="3000" dirty="0"/>
          </a:p>
        </p:txBody>
      </p:sp>
      <p:sp>
        <p:nvSpPr>
          <p:cNvPr id="6" name="Text 3"/>
          <p:cNvSpPr txBox="1"/>
          <p:nvPr/>
        </p:nvSpPr>
        <p:spPr>
          <a:xfrm>
            <a:off x="6035040" y="1737360"/>
            <a:ext cx="2651760" cy="365760"/>
          </a:xfrm>
          <a:prstGeom prst="rect">
            <a:avLst/>
          </a:prstGeom>
          <a:noFill/>
          <a:ln/>
        </p:spPr>
        <p:txBody>
          <a:bodyPr wrap="square" lIns="0" tIns="0" rIns="0" bIns="0" rtlCol="0" anchor="t"/>
          <a:lstStyle/>
          <a:p>
            <a:pPr marL="0" indent="0">
              <a:buNone/>
            </a:pPr>
            <a:r>
              <a:rPr lang="en-US" sz="1100" dirty="0">
                <a:solidFill>
                  <a:schemeClr val="accent4"/>
                </a:solidFill>
              </a:rPr>
              <a:t>median fraud size vs. account norm (legit ≈ 1×)</a:t>
            </a:r>
            <a:endParaRPr lang="en-US" sz="1100" dirty="0"/>
          </a:p>
        </p:txBody>
      </p:sp>
      <p:sp>
        <p:nvSpPr>
          <p:cNvPr id="8"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9" name="Text 6"/>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Payments above 5× an account's norm carry ~9× the fraud rate of normal-sized ones.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EDA</a:t>
            </a:r>
            <a:endParaRPr lang="en-US" sz="2000" dirty="0"/>
          </a:p>
        </p:txBody>
      </p:sp>
      <p:graphicFrame>
        <p:nvGraphicFramePr>
          <p:cNvPr id="3" name="Chart 0"/>
          <p:cNvGraphicFramePr/>
          <p:nvPr/>
        </p:nvGraphicFramePr>
        <p:xfrm>
          <a:off x="457200" y="1005840"/>
          <a:ext cx="45720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303520" y="1051560"/>
            <a:ext cx="3383280" cy="621792"/>
          </a:xfrm>
          <a:prstGeom prst="roundRect">
            <a:avLst>
              <a:gd name="adj" fmla="val 11765"/>
            </a:avLst>
          </a:prstGeom>
          <a:solidFill>
            <a:schemeClr val="bg2"/>
          </a:solidFill>
          <a:ln/>
        </p:spPr>
        <p:txBody>
          <a:bodyPr/>
          <a:lstStyle/>
          <a:p>
            <a:endParaRPr lang="en-GB"/>
          </a:p>
        </p:txBody>
      </p:sp>
      <p:sp>
        <p:nvSpPr>
          <p:cNvPr id="5" name="Text 2"/>
          <p:cNvSpPr txBox="1"/>
          <p:nvPr/>
        </p:nvSpPr>
        <p:spPr>
          <a:xfrm>
            <a:off x="5486400" y="1051560"/>
            <a:ext cx="1600200" cy="621792"/>
          </a:xfrm>
          <a:prstGeom prst="rect">
            <a:avLst/>
          </a:prstGeom>
          <a:noFill/>
          <a:ln/>
        </p:spPr>
        <p:txBody>
          <a:bodyPr wrap="square" lIns="0" tIns="0" rIns="0" bIns="0" rtlCol="0" anchor="ctr"/>
          <a:lstStyle/>
          <a:p>
            <a:pPr marL="0" indent="0">
              <a:buNone/>
            </a:pPr>
            <a:r>
              <a:rPr lang="en-US" sz="1200" b="1" dirty="0">
                <a:solidFill>
                  <a:schemeClr val="tx1"/>
                </a:solidFill>
              </a:rPr>
              <a:t>Business accounts</a:t>
            </a:r>
            <a:endParaRPr lang="en-US" sz="1200" dirty="0"/>
          </a:p>
        </p:txBody>
      </p:sp>
      <p:sp>
        <p:nvSpPr>
          <p:cNvPr id="6" name="Text 3"/>
          <p:cNvSpPr txBox="1"/>
          <p:nvPr/>
        </p:nvSpPr>
        <p:spPr>
          <a:xfrm>
            <a:off x="7040880" y="1051560"/>
            <a:ext cx="731520" cy="621792"/>
          </a:xfrm>
          <a:prstGeom prst="rect">
            <a:avLst/>
          </a:prstGeom>
          <a:noFill/>
          <a:ln/>
        </p:spPr>
        <p:txBody>
          <a:bodyPr wrap="square" lIns="0" tIns="0" rIns="0" bIns="0" rtlCol="0" anchor="ctr"/>
          <a:lstStyle/>
          <a:p>
            <a:pPr marL="0" indent="0">
              <a:buNone/>
            </a:pPr>
            <a:r>
              <a:rPr lang="en-US" sz="1600" b="1" dirty="0">
                <a:solidFill>
                  <a:schemeClr val="accent1"/>
                </a:solidFill>
              </a:rPr>
              <a:t>3.9%</a:t>
            </a:r>
            <a:endParaRPr lang="en-US" sz="1600" dirty="0"/>
          </a:p>
        </p:txBody>
      </p:sp>
      <p:sp>
        <p:nvSpPr>
          <p:cNvPr id="7" name="Text 4"/>
          <p:cNvSpPr txBox="1"/>
          <p:nvPr/>
        </p:nvSpPr>
        <p:spPr>
          <a:xfrm>
            <a:off x="7772400" y="1051560"/>
            <a:ext cx="914400" cy="621792"/>
          </a:xfrm>
          <a:prstGeom prst="rect">
            <a:avLst/>
          </a:prstGeom>
          <a:noFill/>
          <a:ln/>
        </p:spPr>
        <p:txBody>
          <a:bodyPr wrap="square" lIns="0" tIns="0" rIns="0" bIns="0" rtlCol="0" anchor="ctr"/>
          <a:lstStyle/>
          <a:p>
            <a:pPr marL="0" indent="0">
              <a:buNone/>
            </a:pPr>
            <a:r>
              <a:rPr lang="en-US" sz="950" dirty="0">
                <a:solidFill>
                  <a:schemeClr val="accent4"/>
                </a:solidFill>
              </a:rPr>
              <a:t>vs 2% individual</a:t>
            </a:r>
            <a:endParaRPr lang="en-US" sz="950" dirty="0"/>
          </a:p>
        </p:txBody>
      </p:sp>
      <p:sp>
        <p:nvSpPr>
          <p:cNvPr id="8" name="card"/>
          <p:cNvSpPr/>
          <p:nvPr/>
        </p:nvSpPr>
        <p:spPr>
          <a:xfrm>
            <a:off x="5303520" y="1783080"/>
            <a:ext cx="3383280" cy="621792"/>
          </a:xfrm>
          <a:prstGeom prst="roundRect">
            <a:avLst>
              <a:gd name="adj" fmla="val 11765"/>
            </a:avLst>
          </a:prstGeom>
          <a:solidFill>
            <a:schemeClr val="bg2"/>
          </a:solidFill>
          <a:ln/>
        </p:spPr>
        <p:txBody>
          <a:bodyPr/>
          <a:lstStyle/>
          <a:p>
            <a:endParaRPr lang="en-GB"/>
          </a:p>
        </p:txBody>
      </p:sp>
      <p:sp>
        <p:nvSpPr>
          <p:cNvPr id="9" name="Text 6"/>
          <p:cNvSpPr txBox="1"/>
          <p:nvPr/>
        </p:nvSpPr>
        <p:spPr>
          <a:xfrm>
            <a:off x="5486400" y="1783080"/>
            <a:ext cx="1600200" cy="621792"/>
          </a:xfrm>
          <a:prstGeom prst="rect">
            <a:avLst/>
          </a:prstGeom>
          <a:noFill/>
          <a:ln/>
        </p:spPr>
        <p:txBody>
          <a:bodyPr wrap="square" lIns="0" tIns="0" rIns="0" bIns="0" rtlCol="0" anchor="ctr"/>
          <a:lstStyle/>
          <a:p>
            <a:pPr marL="0" indent="0">
              <a:buNone/>
            </a:pPr>
            <a:r>
              <a:rPr lang="en-US" sz="1200" b="1" dirty="0">
                <a:solidFill>
                  <a:schemeClr val="tx1"/>
                </a:solidFill>
              </a:rPr>
              <a:t>Tier 1 (Basic) KYC</a:t>
            </a:r>
            <a:endParaRPr lang="en-US" sz="1200" dirty="0"/>
          </a:p>
        </p:txBody>
      </p:sp>
      <p:sp>
        <p:nvSpPr>
          <p:cNvPr id="10" name="Text 7"/>
          <p:cNvSpPr txBox="1"/>
          <p:nvPr/>
        </p:nvSpPr>
        <p:spPr>
          <a:xfrm>
            <a:off x="7040880" y="1783080"/>
            <a:ext cx="731520" cy="621792"/>
          </a:xfrm>
          <a:prstGeom prst="rect">
            <a:avLst/>
          </a:prstGeom>
          <a:noFill/>
          <a:ln/>
        </p:spPr>
        <p:txBody>
          <a:bodyPr wrap="square" lIns="0" tIns="0" rIns="0" bIns="0" rtlCol="0" anchor="ctr"/>
          <a:lstStyle/>
          <a:p>
            <a:pPr marL="0" indent="0">
              <a:buNone/>
            </a:pPr>
            <a:r>
              <a:rPr lang="en-US" sz="1600" b="1" dirty="0">
                <a:solidFill>
                  <a:schemeClr val="accent1"/>
                </a:solidFill>
              </a:rPr>
              <a:t>3.3%</a:t>
            </a:r>
            <a:endParaRPr lang="en-US" sz="1600" dirty="0"/>
          </a:p>
        </p:txBody>
      </p:sp>
      <p:sp>
        <p:nvSpPr>
          <p:cNvPr id="11" name="Text 8"/>
          <p:cNvSpPr txBox="1"/>
          <p:nvPr/>
        </p:nvSpPr>
        <p:spPr>
          <a:xfrm>
            <a:off x="7772400" y="1783080"/>
            <a:ext cx="914400" cy="621792"/>
          </a:xfrm>
          <a:prstGeom prst="rect">
            <a:avLst/>
          </a:prstGeom>
          <a:noFill/>
          <a:ln/>
        </p:spPr>
        <p:txBody>
          <a:bodyPr wrap="square" lIns="0" tIns="0" rIns="0" bIns="0" rtlCol="0" anchor="ctr"/>
          <a:lstStyle/>
          <a:p>
            <a:pPr marL="0" indent="0">
              <a:buNone/>
            </a:pPr>
            <a:r>
              <a:rPr lang="en-US" sz="950" dirty="0">
                <a:solidFill>
                  <a:schemeClr val="accent4"/>
                </a:solidFill>
              </a:rPr>
              <a:t>vs 2.2% Tier 3</a:t>
            </a:r>
            <a:endParaRPr lang="en-US" sz="950" dirty="0"/>
          </a:p>
        </p:txBody>
      </p:sp>
      <p:sp>
        <p:nvSpPr>
          <p:cNvPr id="12" name="card"/>
          <p:cNvSpPr/>
          <p:nvPr/>
        </p:nvSpPr>
        <p:spPr>
          <a:xfrm>
            <a:off x="5303520" y="2514600"/>
            <a:ext cx="3383280" cy="621792"/>
          </a:xfrm>
          <a:prstGeom prst="roundRect">
            <a:avLst>
              <a:gd name="adj" fmla="val 11765"/>
            </a:avLst>
          </a:prstGeom>
          <a:solidFill>
            <a:schemeClr val="bg2"/>
          </a:solidFill>
          <a:ln/>
        </p:spPr>
        <p:txBody>
          <a:bodyPr/>
          <a:lstStyle/>
          <a:p>
            <a:endParaRPr lang="en-GB"/>
          </a:p>
        </p:txBody>
      </p:sp>
      <p:sp>
        <p:nvSpPr>
          <p:cNvPr id="13" name="Text 10"/>
          <p:cNvSpPr txBox="1"/>
          <p:nvPr/>
        </p:nvSpPr>
        <p:spPr>
          <a:xfrm>
            <a:off x="5486400" y="2514600"/>
            <a:ext cx="1600200" cy="621792"/>
          </a:xfrm>
          <a:prstGeom prst="rect">
            <a:avLst/>
          </a:prstGeom>
          <a:noFill/>
          <a:ln/>
        </p:spPr>
        <p:txBody>
          <a:bodyPr wrap="square" lIns="0" tIns="0" rIns="0" bIns="0" rtlCol="0" anchor="ctr"/>
          <a:lstStyle/>
          <a:p>
            <a:pPr marL="0" indent="0">
              <a:buNone/>
            </a:pPr>
            <a:r>
              <a:rPr lang="en-US" sz="1200" b="1" dirty="0">
                <a:solidFill>
                  <a:schemeClr val="tx1"/>
                </a:solidFill>
              </a:rPr>
              <a:t>New device</a:t>
            </a:r>
            <a:endParaRPr lang="en-US" sz="1200" dirty="0"/>
          </a:p>
        </p:txBody>
      </p:sp>
      <p:sp>
        <p:nvSpPr>
          <p:cNvPr id="14" name="Text 11"/>
          <p:cNvSpPr txBox="1"/>
          <p:nvPr/>
        </p:nvSpPr>
        <p:spPr>
          <a:xfrm>
            <a:off x="7040880" y="2514600"/>
            <a:ext cx="731520" cy="621792"/>
          </a:xfrm>
          <a:prstGeom prst="rect">
            <a:avLst/>
          </a:prstGeom>
          <a:noFill/>
          <a:ln/>
        </p:spPr>
        <p:txBody>
          <a:bodyPr wrap="square" lIns="0" tIns="0" rIns="0" bIns="0" rtlCol="0" anchor="ctr"/>
          <a:lstStyle/>
          <a:p>
            <a:pPr marL="0" indent="0">
              <a:buNone/>
            </a:pPr>
            <a:r>
              <a:rPr lang="en-US" sz="1600" b="1" dirty="0">
                <a:solidFill>
                  <a:schemeClr val="accent1"/>
                </a:solidFill>
              </a:rPr>
              <a:t>5.9%</a:t>
            </a:r>
            <a:endParaRPr lang="en-US" sz="1600" dirty="0"/>
          </a:p>
        </p:txBody>
      </p:sp>
      <p:sp>
        <p:nvSpPr>
          <p:cNvPr id="15" name="Text 12"/>
          <p:cNvSpPr txBox="1"/>
          <p:nvPr/>
        </p:nvSpPr>
        <p:spPr>
          <a:xfrm>
            <a:off x="7772400" y="2514600"/>
            <a:ext cx="914400" cy="621792"/>
          </a:xfrm>
          <a:prstGeom prst="rect">
            <a:avLst/>
          </a:prstGeom>
          <a:noFill/>
          <a:ln/>
        </p:spPr>
        <p:txBody>
          <a:bodyPr wrap="square" lIns="0" tIns="0" rIns="0" bIns="0" rtlCol="0" anchor="ctr"/>
          <a:lstStyle/>
          <a:p>
            <a:pPr marL="0" indent="0">
              <a:buNone/>
            </a:pPr>
            <a:r>
              <a:rPr lang="en-US" sz="950" dirty="0">
                <a:solidFill>
                  <a:schemeClr val="accent4"/>
                </a:solidFill>
              </a:rPr>
              <a:t>vs 2.6% known device</a:t>
            </a:r>
            <a:endParaRPr lang="en-US" sz="950" dirty="0"/>
          </a:p>
        </p:txBody>
      </p:sp>
      <p:sp>
        <p:nvSpPr>
          <p:cNvPr id="16" name="card"/>
          <p:cNvSpPr/>
          <p:nvPr/>
        </p:nvSpPr>
        <p:spPr>
          <a:xfrm>
            <a:off x="5303520" y="3246120"/>
            <a:ext cx="3383280" cy="621792"/>
          </a:xfrm>
          <a:prstGeom prst="roundRect">
            <a:avLst>
              <a:gd name="adj" fmla="val 11765"/>
            </a:avLst>
          </a:prstGeom>
          <a:solidFill>
            <a:schemeClr val="bg2"/>
          </a:solidFill>
          <a:ln/>
        </p:spPr>
        <p:txBody>
          <a:bodyPr/>
          <a:lstStyle/>
          <a:p>
            <a:endParaRPr lang="en-GB"/>
          </a:p>
        </p:txBody>
      </p:sp>
      <p:sp>
        <p:nvSpPr>
          <p:cNvPr id="17" name="Text 14"/>
          <p:cNvSpPr txBox="1"/>
          <p:nvPr/>
        </p:nvSpPr>
        <p:spPr>
          <a:xfrm>
            <a:off x="5486400" y="3246120"/>
            <a:ext cx="1600200" cy="621792"/>
          </a:xfrm>
          <a:prstGeom prst="rect">
            <a:avLst/>
          </a:prstGeom>
          <a:noFill/>
          <a:ln/>
        </p:spPr>
        <p:txBody>
          <a:bodyPr wrap="square" lIns="0" tIns="0" rIns="0" bIns="0" rtlCol="0" anchor="ctr"/>
          <a:lstStyle/>
          <a:p>
            <a:pPr marL="0" indent="0">
              <a:buNone/>
            </a:pPr>
            <a:r>
              <a:rPr lang="en-US" sz="1200" b="1" dirty="0">
                <a:solidFill>
                  <a:schemeClr val="tx1"/>
                </a:solidFill>
              </a:rPr>
              <a:t>Cross-border</a:t>
            </a:r>
            <a:endParaRPr lang="en-US" sz="1200" dirty="0"/>
          </a:p>
        </p:txBody>
      </p:sp>
      <p:sp>
        <p:nvSpPr>
          <p:cNvPr id="18" name="Text 15"/>
          <p:cNvSpPr txBox="1"/>
          <p:nvPr/>
        </p:nvSpPr>
        <p:spPr>
          <a:xfrm>
            <a:off x="7040880" y="3246120"/>
            <a:ext cx="731520" cy="621792"/>
          </a:xfrm>
          <a:prstGeom prst="rect">
            <a:avLst/>
          </a:prstGeom>
          <a:noFill/>
          <a:ln/>
        </p:spPr>
        <p:txBody>
          <a:bodyPr wrap="square" lIns="0" tIns="0" rIns="0" bIns="0" rtlCol="0" anchor="ctr"/>
          <a:lstStyle/>
          <a:p>
            <a:pPr marL="0" indent="0">
              <a:buNone/>
            </a:pPr>
            <a:r>
              <a:rPr lang="en-US" sz="1600" b="1" dirty="0">
                <a:solidFill>
                  <a:schemeClr val="accent1"/>
                </a:solidFill>
              </a:rPr>
              <a:t>3.4%</a:t>
            </a:r>
            <a:endParaRPr lang="en-US" sz="1600" dirty="0"/>
          </a:p>
        </p:txBody>
      </p:sp>
      <p:sp>
        <p:nvSpPr>
          <p:cNvPr id="19" name="Text 16"/>
          <p:cNvSpPr txBox="1"/>
          <p:nvPr/>
        </p:nvSpPr>
        <p:spPr>
          <a:xfrm>
            <a:off x="7772400" y="3246120"/>
            <a:ext cx="914400" cy="621792"/>
          </a:xfrm>
          <a:prstGeom prst="rect">
            <a:avLst/>
          </a:prstGeom>
          <a:noFill/>
          <a:ln/>
        </p:spPr>
        <p:txBody>
          <a:bodyPr wrap="square" lIns="0" tIns="0" rIns="0" bIns="0" rtlCol="0" anchor="ctr"/>
          <a:lstStyle/>
          <a:p>
            <a:pPr marL="0" indent="0">
              <a:buNone/>
            </a:pPr>
            <a:r>
              <a:rPr lang="en-US" sz="950" dirty="0">
                <a:solidFill>
                  <a:schemeClr val="accent4"/>
                </a:solidFill>
              </a:rPr>
              <a:t>vs 2.6% domestic</a:t>
            </a:r>
            <a:endParaRPr lang="en-US" sz="950" dirty="0"/>
          </a:p>
        </p:txBody>
      </p:sp>
      <p:sp>
        <p:nvSpPr>
          <p:cNvPr id="20"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21" name="Text 18"/>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High-value, hard-to-reverse transfers and lightly-verified business accounts carry the most risk.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Features &amp; models</a:t>
            </a:r>
            <a:endParaRPr lang="en-US" sz="2000" dirty="0"/>
          </a:p>
        </p:txBody>
      </p:sp>
      <p:sp>
        <p:nvSpPr>
          <p:cNvPr id="3" name="card"/>
          <p:cNvSpPr/>
          <p:nvPr/>
        </p:nvSpPr>
        <p:spPr>
          <a:xfrm>
            <a:off x="457200" y="1143000"/>
            <a:ext cx="1874520" cy="2331720"/>
          </a:xfrm>
          <a:prstGeom prst="roundRect">
            <a:avLst>
              <a:gd name="adj" fmla="val 3902"/>
            </a:avLst>
          </a:prstGeom>
          <a:solidFill>
            <a:schemeClr val="bg2"/>
          </a:solidFill>
          <a:ln/>
        </p:spPr>
        <p:txBody>
          <a:bodyPr/>
          <a:lstStyle/>
          <a:p>
            <a:endParaRPr lang="en-GB"/>
          </a:p>
        </p:txBody>
      </p:sp>
      <p:sp>
        <p:nvSpPr>
          <p:cNvPr id="4" name="Text 2"/>
          <p:cNvSpPr txBox="1"/>
          <p:nvPr/>
        </p:nvSpPr>
        <p:spPr>
          <a:xfrm>
            <a:off x="594360" y="1261872"/>
            <a:ext cx="1600200" cy="457200"/>
          </a:xfrm>
          <a:prstGeom prst="rect">
            <a:avLst/>
          </a:prstGeom>
          <a:noFill/>
          <a:ln/>
        </p:spPr>
        <p:txBody>
          <a:bodyPr wrap="square" lIns="0" tIns="0" rIns="0" bIns="0" rtlCol="0" anchor="t"/>
          <a:lstStyle/>
          <a:p>
            <a:pPr marL="0" indent="0">
              <a:buNone/>
            </a:pPr>
            <a:r>
              <a:rPr lang="en-US" sz="1350" b="1" dirty="0">
                <a:solidFill>
                  <a:schemeClr val="accent1"/>
                </a:solidFill>
              </a:rPr>
              <a:t>Behavioural features</a:t>
            </a:r>
            <a:endParaRPr lang="en-US" sz="1350" dirty="0"/>
          </a:p>
        </p:txBody>
      </p:sp>
      <p:sp>
        <p:nvSpPr>
          <p:cNvPr id="5" name="Text 3"/>
          <p:cNvSpPr txBox="1"/>
          <p:nvPr/>
        </p:nvSpPr>
        <p:spPr>
          <a:xfrm>
            <a:off x="594360" y="1737360"/>
            <a:ext cx="1600200" cy="1645920"/>
          </a:xfrm>
          <a:prstGeom prst="rect">
            <a:avLst/>
          </a:prstGeom>
          <a:noFill/>
          <a:ln/>
        </p:spPr>
        <p:txBody>
          <a:bodyPr wrap="square" lIns="0" tIns="0" rIns="0" bIns="0" rtlCol="0" anchor="t"/>
          <a:lstStyle/>
          <a:p>
            <a:pPr marL="0" indent="0">
              <a:buNone/>
            </a:pPr>
            <a:r>
              <a:rPr lang="en-US" sz="1150" dirty="0">
                <a:solidFill>
                  <a:schemeClr val="tx1"/>
                </a:solidFill>
              </a:rPr>
              <a:t>Velocity (1h)</a:t>
            </a:r>
            <a:endParaRPr lang="en-US" sz="1150" dirty="0"/>
          </a:p>
          <a:p>
            <a:pPr marL="0" indent="0">
              <a:buNone/>
            </a:pPr>
            <a:r>
              <a:rPr lang="en-US" sz="1150" dirty="0">
                <a:solidFill>
                  <a:schemeClr val="tx1"/>
                </a:solidFill>
              </a:rPr>
              <a:t>Amount ÷ 30-day avg</a:t>
            </a:r>
            <a:endParaRPr lang="en-US" sz="1150" dirty="0"/>
          </a:p>
          <a:p>
            <a:pPr marL="0" indent="0">
              <a:buNone/>
            </a:pPr>
            <a:r>
              <a:rPr lang="en-US" sz="1150" dirty="0">
                <a:solidFill>
                  <a:schemeClr val="tx1"/>
                </a:solidFill>
              </a:rPr>
              <a:t>New device · Cross-border</a:t>
            </a:r>
            <a:endParaRPr lang="en-US" sz="1150" dirty="0"/>
          </a:p>
          <a:p>
            <a:pPr marL="0" indent="0">
              <a:buNone/>
            </a:pPr>
            <a:r>
              <a:rPr lang="en-US" sz="1150" dirty="0">
                <a:solidFill>
                  <a:schemeClr val="tx1"/>
                </a:solidFill>
              </a:rPr>
              <a:t>Device captured</a:t>
            </a:r>
            <a:endParaRPr lang="en-US" sz="1150" dirty="0"/>
          </a:p>
        </p:txBody>
      </p:sp>
      <p:sp>
        <p:nvSpPr>
          <p:cNvPr id="6" name="flowArrow"/>
          <p:cNvSpPr/>
          <p:nvPr/>
        </p:nvSpPr>
        <p:spPr>
          <a:xfrm>
            <a:off x="2359152" y="2148840"/>
            <a:ext cx="201168" cy="320040"/>
          </a:xfrm>
          <a:prstGeom prst="chevron">
            <a:avLst/>
          </a:prstGeom>
          <a:solidFill>
            <a:schemeClr val="accent5"/>
          </a:solidFill>
          <a:ln/>
        </p:spPr>
        <p:txBody>
          <a:bodyPr/>
          <a:lstStyle/>
          <a:p>
            <a:endParaRPr lang="en-GB"/>
          </a:p>
        </p:txBody>
      </p:sp>
      <p:sp>
        <p:nvSpPr>
          <p:cNvPr id="7" name="card"/>
          <p:cNvSpPr/>
          <p:nvPr/>
        </p:nvSpPr>
        <p:spPr>
          <a:xfrm>
            <a:off x="2587752" y="1143000"/>
            <a:ext cx="1874520" cy="2331720"/>
          </a:xfrm>
          <a:prstGeom prst="roundRect">
            <a:avLst>
              <a:gd name="adj" fmla="val 3902"/>
            </a:avLst>
          </a:prstGeom>
          <a:solidFill>
            <a:schemeClr val="bg2"/>
          </a:solidFill>
          <a:ln/>
        </p:spPr>
        <p:txBody>
          <a:bodyPr/>
          <a:lstStyle/>
          <a:p>
            <a:endParaRPr lang="en-GB"/>
          </a:p>
        </p:txBody>
      </p:sp>
      <p:sp>
        <p:nvSpPr>
          <p:cNvPr id="8" name="Text 6"/>
          <p:cNvSpPr txBox="1"/>
          <p:nvPr/>
        </p:nvSpPr>
        <p:spPr>
          <a:xfrm>
            <a:off x="2724912" y="1261872"/>
            <a:ext cx="1600200" cy="457200"/>
          </a:xfrm>
          <a:prstGeom prst="rect">
            <a:avLst/>
          </a:prstGeom>
          <a:noFill/>
          <a:ln/>
        </p:spPr>
        <p:txBody>
          <a:bodyPr wrap="square" lIns="0" tIns="0" rIns="0" bIns="0" rtlCol="0" anchor="t"/>
          <a:lstStyle/>
          <a:p>
            <a:pPr marL="0" indent="0">
              <a:buNone/>
            </a:pPr>
            <a:r>
              <a:rPr lang="en-US" sz="1350" b="1" dirty="0">
                <a:solidFill>
                  <a:schemeClr val="accent1"/>
                </a:solidFill>
              </a:rPr>
              <a:t>Context features</a:t>
            </a:r>
            <a:endParaRPr lang="en-US" sz="1350" dirty="0"/>
          </a:p>
        </p:txBody>
      </p:sp>
      <p:sp>
        <p:nvSpPr>
          <p:cNvPr id="9" name="Text 7"/>
          <p:cNvSpPr txBox="1"/>
          <p:nvPr/>
        </p:nvSpPr>
        <p:spPr>
          <a:xfrm>
            <a:off x="2724912" y="1737360"/>
            <a:ext cx="1600200" cy="1645920"/>
          </a:xfrm>
          <a:prstGeom prst="rect">
            <a:avLst/>
          </a:prstGeom>
          <a:noFill/>
          <a:ln/>
        </p:spPr>
        <p:txBody>
          <a:bodyPr wrap="square" lIns="0" tIns="0" rIns="0" bIns="0" rtlCol="0" anchor="t"/>
          <a:lstStyle/>
          <a:p>
            <a:pPr marL="0" indent="0">
              <a:buNone/>
            </a:pPr>
            <a:r>
              <a:rPr lang="en-US" sz="1150" dirty="0">
                <a:solidFill>
                  <a:schemeClr val="tx1"/>
                </a:solidFill>
              </a:rPr>
              <a:t>Account type · KYC tier</a:t>
            </a:r>
            <a:endParaRPr lang="en-US" sz="1150" dirty="0"/>
          </a:p>
          <a:p>
            <a:pPr marL="0" indent="0">
              <a:buNone/>
            </a:pPr>
            <a:r>
              <a:rPr lang="en-US" sz="1150" dirty="0">
                <a:solidFill>
                  <a:schemeClr val="tx1"/>
                </a:solidFill>
              </a:rPr>
              <a:t>Merchant category · Channel</a:t>
            </a:r>
            <a:endParaRPr lang="en-US" sz="1150" dirty="0"/>
          </a:p>
        </p:txBody>
      </p:sp>
      <p:sp>
        <p:nvSpPr>
          <p:cNvPr id="10" name="flowArrow"/>
          <p:cNvSpPr/>
          <p:nvPr/>
        </p:nvSpPr>
        <p:spPr>
          <a:xfrm>
            <a:off x="4489704" y="2148840"/>
            <a:ext cx="201168" cy="320040"/>
          </a:xfrm>
          <a:prstGeom prst="chevron">
            <a:avLst/>
          </a:prstGeom>
          <a:solidFill>
            <a:schemeClr val="accent5"/>
          </a:solidFill>
          <a:ln/>
        </p:spPr>
        <p:txBody>
          <a:bodyPr/>
          <a:lstStyle/>
          <a:p>
            <a:endParaRPr lang="en-GB"/>
          </a:p>
        </p:txBody>
      </p:sp>
      <p:sp>
        <p:nvSpPr>
          <p:cNvPr id="11" name="card"/>
          <p:cNvSpPr/>
          <p:nvPr/>
        </p:nvSpPr>
        <p:spPr>
          <a:xfrm>
            <a:off x="4718304" y="1143000"/>
            <a:ext cx="1874520" cy="2331720"/>
          </a:xfrm>
          <a:prstGeom prst="roundRect">
            <a:avLst>
              <a:gd name="adj" fmla="val 3902"/>
            </a:avLst>
          </a:prstGeom>
          <a:solidFill>
            <a:schemeClr val="bg2"/>
          </a:solidFill>
          <a:ln/>
        </p:spPr>
        <p:txBody>
          <a:bodyPr/>
          <a:lstStyle/>
          <a:p>
            <a:endParaRPr lang="en-GB"/>
          </a:p>
        </p:txBody>
      </p:sp>
      <p:sp>
        <p:nvSpPr>
          <p:cNvPr id="12" name="Text 10"/>
          <p:cNvSpPr txBox="1"/>
          <p:nvPr/>
        </p:nvSpPr>
        <p:spPr>
          <a:xfrm>
            <a:off x="4855464" y="1261872"/>
            <a:ext cx="1600200" cy="457200"/>
          </a:xfrm>
          <a:prstGeom prst="rect">
            <a:avLst/>
          </a:prstGeom>
          <a:noFill/>
          <a:ln/>
        </p:spPr>
        <p:txBody>
          <a:bodyPr wrap="square" lIns="0" tIns="0" rIns="0" bIns="0" rtlCol="0" anchor="t"/>
          <a:lstStyle/>
          <a:p>
            <a:pPr marL="0" indent="0">
              <a:buNone/>
            </a:pPr>
            <a:r>
              <a:rPr lang="en-US" sz="1350" b="1" dirty="0">
                <a:solidFill>
                  <a:schemeClr val="accent1"/>
                </a:solidFill>
              </a:rPr>
              <a:t>Two models</a:t>
            </a:r>
            <a:endParaRPr lang="en-US" sz="1350" dirty="0"/>
          </a:p>
        </p:txBody>
      </p:sp>
      <p:sp>
        <p:nvSpPr>
          <p:cNvPr id="13" name="Text 11"/>
          <p:cNvSpPr txBox="1"/>
          <p:nvPr/>
        </p:nvSpPr>
        <p:spPr>
          <a:xfrm>
            <a:off x="4855464" y="1737360"/>
            <a:ext cx="1600200" cy="1645920"/>
          </a:xfrm>
          <a:prstGeom prst="rect">
            <a:avLst/>
          </a:prstGeom>
          <a:noFill/>
          <a:ln/>
        </p:spPr>
        <p:txBody>
          <a:bodyPr wrap="square" lIns="0" tIns="0" rIns="0" bIns="0" rtlCol="0" anchor="t"/>
          <a:lstStyle/>
          <a:p>
            <a:pPr marL="0" indent="0">
              <a:buNone/>
            </a:pPr>
            <a:r>
              <a:rPr lang="en-US" sz="1150" dirty="0">
                <a:solidFill>
                  <a:schemeClr val="tx1"/>
                </a:solidFill>
              </a:rPr>
              <a:t>Logistic Regression and</a:t>
            </a:r>
            <a:endParaRPr lang="en-US" sz="1150" dirty="0"/>
          </a:p>
          <a:p>
            <a:pPr marL="0" indent="0">
              <a:buNone/>
            </a:pPr>
            <a:r>
              <a:rPr lang="en-US" sz="1150" dirty="0">
                <a:solidFill>
                  <a:schemeClr val="tx1"/>
                </a:solidFill>
              </a:rPr>
              <a:t>Random Forest</a:t>
            </a:r>
            <a:endParaRPr lang="en-US" sz="1150" dirty="0"/>
          </a:p>
        </p:txBody>
      </p:sp>
      <p:sp>
        <p:nvSpPr>
          <p:cNvPr id="14" name="flowArrow"/>
          <p:cNvSpPr/>
          <p:nvPr/>
        </p:nvSpPr>
        <p:spPr>
          <a:xfrm>
            <a:off x="6620256" y="2148840"/>
            <a:ext cx="201168" cy="320040"/>
          </a:xfrm>
          <a:prstGeom prst="chevron">
            <a:avLst/>
          </a:prstGeom>
          <a:solidFill>
            <a:schemeClr val="accent5"/>
          </a:solidFill>
          <a:ln/>
        </p:spPr>
        <p:txBody>
          <a:bodyPr/>
          <a:lstStyle/>
          <a:p>
            <a:endParaRPr lang="en-GB"/>
          </a:p>
        </p:txBody>
      </p:sp>
      <p:sp>
        <p:nvSpPr>
          <p:cNvPr id="15" name="card"/>
          <p:cNvSpPr/>
          <p:nvPr/>
        </p:nvSpPr>
        <p:spPr>
          <a:xfrm>
            <a:off x="6848856" y="1143000"/>
            <a:ext cx="1874520" cy="2331720"/>
          </a:xfrm>
          <a:prstGeom prst="roundRect">
            <a:avLst>
              <a:gd name="adj" fmla="val 3902"/>
            </a:avLst>
          </a:prstGeom>
          <a:solidFill>
            <a:schemeClr val="tx1"/>
          </a:solidFill>
          <a:ln/>
        </p:spPr>
        <p:txBody>
          <a:bodyPr/>
          <a:lstStyle/>
          <a:p>
            <a:endParaRPr lang="en-GB"/>
          </a:p>
        </p:txBody>
      </p:sp>
      <p:sp>
        <p:nvSpPr>
          <p:cNvPr id="16" name="Text 14"/>
          <p:cNvSpPr txBox="1"/>
          <p:nvPr/>
        </p:nvSpPr>
        <p:spPr>
          <a:xfrm>
            <a:off x="6986016" y="1261872"/>
            <a:ext cx="1600200" cy="457200"/>
          </a:xfrm>
          <a:prstGeom prst="rect">
            <a:avLst/>
          </a:prstGeom>
          <a:noFill/>
          <a:ln/>
        </p:spPr>
        <p:txBody>
          <a:bodyPr wrap="square" lIns="0" tIns="0" rIns="0" bIns="0" rtlCol="0" anchor="t"/>
          <a:lstStyle/>
          <a:p>
            <a:pPr marL="0" indent="0">
              <a:buNone/>
            </a:pPr>
            <a:r>
              <a:rPr lang="en-US" sz="1350" b="1" dirty="0">
                <a:solidFill>
                  <a:schemeClr val="accent3"/>
                </a:solidFill>
              </a:rPr>
              <a:t>Output</a:t>
            </a:r>
            <a:endParaRPr lang="en-US" sz="1350" dirty="0"/>
          </a:p>
        </p:txBody>
      </p:sp>
      <p:sp>
        <p:nvSpPr>
          <p:cNvPr id="17" name="Text 15"/>
          <p:cNvSpPr txBox="1"/>
          <p:nvPr/>
        </p:nvSpPr>
        <p:spPr>
          <a:xfrm>
            <a:off x="6986016" y="1737360"/>
            <a:ext cx="1600200" cy="1645920"/>
          </a:xfrm>
          <a:prstGeom prst="rect">
            <a:avLst/>
          </a:prstGeom>
          <a:noFill/>
          <a:ln/>
        </p:spPr>
        <p:txBody>
          <a:bodyPr wrap="square" lIns="0" tIns="0" rIns="0" bIns="0" rtlCol="0" anchor="t"/>
          <a:lstStyle/>
          <a:p>
            <a:pPr marL="0" indent="0">
              <a:buNone/>
            </a:pPr>
            <a:r>
              <a:rPr lang="en-US" sz="1150" dirty="0">
                <a:solidFill>
                  <a:schemeClr val="bg1"/>
                </a:solidFill>
              </a:rPr>
              <a:t>Fraud probability</a:t>
            </a:r>
            <a:endParaRPr lang="en-US" sz="1150" dirty="0"/>
          </a:p>
          <a:p>
            <a:pPr marL="0" indent="0">
              <a:buNone/>
            </a:pPr>
            <a:r>
              <a:rPr lang="en-US" sz="1150" dirty="0">
                <a:solidFill>
                  <a:schemeClr val="bg1"/>
                </a:solidFill>
              </a:rPr>
              <a:t>0–100% per transaction</a:t>
            </a:r>
            <a:endParaRPr lang="en-US" sz="1150" dirty="0"/>
          </a:p>
        </p:txBody>
      </p:sp>
      <p:sp>
        <p:nvSpPr>
          <p:cNvPr id="19"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20" name="Text 18"/>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One model to explain, one to perform — both tested on 31,500 unseen transactions.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Evaluation</a:t>
            </a:r>
            <a:endParaRPr lang="en-US" sz="2000" dirty="0"/>
          </a:p>
        </p:txBody>
      </p:sp>
      <p:graphicFrame>
        <p:nvGraphicFramePr>
          <p:cNvPr id="3" name="Chart 0"/>
          <p:cNvGraphicFramePr/>
          <p:nvPr/>
        </p:nvGraphicFramePr>
        <p:xfrm>
          <a:off x="457200" y="1005840"/>
          <a:ext cx="493776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669280" y="1005840"/>
            <a:ext cx="3017520" cy="320040"/>
          </a:xfrm>
          <a:prstGeom prst="rect">
            <a:avLst/>
          </a:prstGeom>
          <a:noFill/>
          <a:ln/>
        </p:spPr>
        <p:txBody>
          <a:bodyPr wrap="square" lIns="0" tIns="0" rIns="0" bIns="0" rtlCol="0" anchor="t"/>
          <a:lstStyle/>
          <a:p>
            <a:pPr marL="0" indent="0" algn="ctr">
              <a:buNone/>
            </a:pPr>
            <a:r>
              <a:rPr lang="en-US" sz="1200" b="1" dirty="0">
                <a:solidFill>
                  <a:schemeClr val="tx1"/>
                </a:solidFill>
              </a:rPr>
              <a:t>Random Forest</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2594594077"/>
              </p:ext>
            </p:extLst>
          </p:nvPr>
        </p:nvGraphicFramePr>
        <p:xfrm>
          <a:off x="5669280" y="1371600"/>
          <a:ext cx="3017520" cy="137160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57200">
                <a:tc>
                  <a:txBody>
                    <a:bodyPr/>
                    <a:lstStyle/>
                    <a:p>
                      <a:pPr marL="0" indent="0">
                        <a:buNone/>
                      </a:pP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accent4"/>
                          </a:solidFill>
                        </a:rPr>
                        <a:t>Pred. legit</a:t>
                      </a: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accent4"/>
                          </a:solidFill>
                        </a:rPr>
                        <a:t>Pred. fraud</a:t>
                      </a: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57200">
                <a:tc>
                  <a:txBody>
                    <a:bodyPr/>
                    <a:lstStyle/>
                    <a:p>
                      <a:pPr marL="0" indent="0" algn="ctr">
                        <a:buNone/>
                      </a:pPr>
                      <a:r>
                        <a:rPr lang="en-US" sz="1100" b="1" dirty="0">
                          <a:solidFill>
                            <a:schemeClr val="accent4"/>
                          </a:solidFill>
                        </a:rPr>
                        <a:t>Actual legit</a:t>
                      </a: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tx1"/>
                          </a:solidFill>
                        </a:rPr>
                        <a:t>29,168</a:t>
                      </a: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1"/>
                          </a:solidFill>
                        </a:rPr>
                        <a:t>1,494</a:t>
                      </a:r>
                      <a:endParaRPr lang="en-US" sz="1100" dirty="0">
                        <a:solidFill>
                          <a:schemeClr val="tx1"/>
                        </a:solidFill>
                      </a:endParaRPr>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ctr">
                        <a:buNone/>
                      </a:pPr>
                      <a:r>
                        <a:rPr lang="en-US" sz="1100" b="1" dirty="0">
                          <a:solidFill>
                            <a:schemeClr val="accent4"/>
                          </a:solidFill>
                        </a:rPr>
                        <a:t>Actual fraud</a:t>
                      </a: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tx1"/>
                          </a:solidFill>
                        </a:rPr>
                        <a:t>144</a:t>
                      </a:r>
                      <a:endParaRPr lang="en-US" sz="1100" dirty="0">
                        <a:solidFill>
                          <a:schemeClr val="tx1"/>
                        </a:solidFill>
                      </a:endParaRPr>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bg1"/>
                          </a:solidFill>
                        </a:rPr>
                        <a:t>694</a:t>
                      </a:r>
                      <a:endParaRPr lang="en-US" sz="1100" dirty="0"/>
                    </a:p>
                  </a:txBody>
                  <a:tcPr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5669280" y="2880360"/>
            <a:ext cx="3017520" cy="1005840"/>
          </a:xfrm>
          <a:prstGeom prst="rect">
            <a:avLst/>
          </a:prstGeom>
          <a:noFill/>
          <a:ln/>
        </p:spPr>
        <p:txBody>
          <a:bodyPr wrap="square" lIns="0" tIns="0" rIns="0" bIns="0" rtlCol="0" anchor="t"/>
          <a:lstStyle/>
          <a:p>
            <a:pPr marL="0" indent="0">
              <a:buNone/>
            </a:pPr>
            <a:r>
              <a:rPr lang="en-US" sz="1150" dirty="0">
                <a:solidFill>
                  <a:schemeClr val="accent4"/>
                </a:solidFill>
              </a:rPr>
              <a:t>694 of 838 frauds caught; 1,494 legitimate payments sent for review (4.9% of legit traffic).</a:t>
            </a:r>
            <a:endParaRPr lang="en-US" sz="1150" dirty="0"/>
          </a:p>
        </p:txBody>
      </p:sp>
      <p:sp>
        <p:nvSpPr>
          <p:cNvPr id="7"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8" name="Text 4"/>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Random Forest catches 83% of fraud; Logistic Regression trades a little recall for higher precision.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Evaluation</a:t>
            </a:r>
            <a:endParaRPr lang="en-US" sz="2000" dirty="0"/>
          </a:p>
        </p:txBody>
      </p:sp>
      <p:graphicFrame>
        <p:nvGraphicFramePr>
          <p:cNvPr id="3" name="Chart 0"/>
          <p:cNvGraphicFramePr/>
          <p:nvPr>
            <p:extLst>
              <p:ext uri="{D42A27DB-BD31-4B8C-83A1-F6EECF244321}">
                <p14:modId xmlns:p14="http://schemas.microsoft.com/office/powerpoint/2010/main" val="1658694446"/>
              </p:ext>
            </p:extLst>
          </p:nvPr>
        </p:nvGraphicFramePr>
        <p:xfrm>
          <a:off x="457200" y="1005840"/>
          <a:ext cx="51206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852160" y="1051560"/>
            <a:ext cx="2834640" cy="841248"/>
          </a:xfrm>
          <a:prstGeom prst="roundRect">
            <a:avLst>
              <a:gd name="adj" fmla="val 8696"/>
            </a:avLst>
          </a:prstGeom>
          <a:solidFill>
            <a:schemeClr val="bg2"/>
          </a:solidFill>
          <a:ln/>
        </p:spPr>
        <p:txBody>
          <a:bodyPr/>
          <a:lstStyle/>
          <a:p>
            <a:endParaRPr lang="en-GB"/>
          </a:p>
        </p:txBody>
      </p:sp>
      <p:sp>
        <p:nvSpPr>
          <p:cNvPr id="5" name="Text 2"/>
          <p:cNvSpPr txBox="1"/>
          <p:nvPr/>
        </p:nvSpPr>
        <p:spPr>
          <a:xfrm>
            <a:off x="6035040" y="1143000"/>
            <a:ext cx="2560320" cy="320040"/>
          </a:xfrm>
          <a:prstGeom prst="rect">
            <a:avLst/>
          </a:prstGeom>
          <a:noFill/>
          <a:ln/>
        </p:spPr>
        <p:txBody>
          <a:bodyPr wrap="square" lIns="0" tIns="0" rIns="0" bIns="0" rtlCol="0" anchor="t"/>
          <a:lstStyle/>
          <a:p>
            <a:pPr marL="0" indent="0">
              <a:buNone/>
            </a:pPr>
            <a:r>
              <a:rPr lang="en-US" sz="1300" b="1" dirty="0">
                <a:solidFill>
                  <a:schemeClr val="tx1"/>
                </a:solidFill>
              </a:rPr>
              <a:t>70% recall  ·  Lean team</a:t>
            </a:r>
            <a:endParaRPr lang="en-US" sz="1300" dirty="0"/>
          </a:p>
        </p:txBody>
      </p:sp>
      <p:sp>
        <p:nvSpPr>
          <p:cNvPr id="6" name="Text 3"/>
          <p:cNvSpPr txBox="1"/>
          <p:nvPr/>
        </p:nvSpPr>
        <p:spPr>
          <a:xfrm>
            <a:off x="6035040" y="1481328"/>
            <a:ext cx="2560320" cy="320040"/>
          </a:xfrm>
          <a:prstGeom prst="rect">
            <a:avLst/>
          </a:prstGeom>
          <a:noFill/>
          <a:ln/>
        </p:spPr>
        <p:txBody>
          <a:bodyPr wrap="square" lIns="0" tIns="0" rIns="0" bIns="0" rtlCol="0" anchor="t"/>
          <a:lstStyle/>
          <a:p>
            <a:pPr marL="0" indent="0">
              <a:buNone/>
            </a:pPr>
            <a:r>
              <a:rPr lang="en-US" sz="1150" dirty="0">
                <a:solidFill>
                  <a:schemeClr val="accent4"/>
                </a:solidFill>
              </a:rPr>
              <a:t>~3 in 5 alerts are real fraud</a:t>
            </a:r>
            <a:endParaRPr lang="en-US" sz="1150" dirty="0"/>
          </a:p>
        </p:txBody>
      </p:sp>
      <p:sp>
        <p:nvSpPr>
          <p:cNvPr id="7" name="card"/>
          <p:cNvSpPr/>
          <p:nvPr/>
        </p:nvSpPr>
        <p:spPr>
          <a:xfrm>
            <a:off x="5852160" y="2029968"/>
            <a:ext cx="2834640" cy="841248"/>
          </a:xfrm>
          <a:prstGeom prst="roundRect">
            <a:avLst>
              <a:gd name="adj" fmla="val 8696"/>
            </a:avLst>
          </a:prstGeom>
          <a:solidFill>
            <a:schemeClr val="tx1"/>
          </a:solidFill>
          <a:ln/>
        </p:spPr>
        <p:txBody>
          <a:bodyPr/>
          <a:lstStyle/>
          <a:p>
            <a:endParaRPr lang="en-GB"/>
          </a:p>
        </p:txBody>
      </p:sp>
      <p:sp>
        <p:nvSpPr>
          <p:cNvPr id="8" name="Text 5"/>
          <p:cNvSpPr txBox="1"/>
          <p:nvPr/>
        </p:nvSpPr>
        <p:spPr>
          <a:xfrm>
            <a:off x="6035040" y="2121408"/>
            <a:ext cx="2560320" cy="320040"/>
          </a:xfrm>
          <a:prstGeom prst="rect">
            <a:avLst/>
          </a:prstGeom>
          <a:noFill/>
          <a:ln/>
        </p:spPr>
        <p:txBody>
          <a:bodyPr wrap="square" lIns="0" tIns="0" rIns="0" bIns="0" rtlCol="0" anchor="t"/>
          <a:lstStyle/>
          <a:p>
            <a:pPr marL="0" indent="0">
              <a:buNone/>
            </a:pPr>
            <a:r>
              <a:rPr lang="en-US" sz="1300" b="1" dirty="0">
                <a:solidFill>
                  <a:schemeClr val="accent3"/>
                </a:solidFill>
              </a:rPr>
              <a:t>80% recall  ·  Balanced</a:t>
            </a:r>
            <a:endParaRPr lang="en-US" sz="1300" dirty="0"/>
          </a:p>
        </p:txBody>
      </p:sp>
      <p:sp>
        <p:nvSpPr>
          <p:cNvPr id="9" name="Text 6"/>
          <p:cNvSpPr txBox="1"/>
          <p:nvPr/>
        </p:nvSpPr>
        <p:spPr>
          <a:xfrm>
            <a:off x="6035040" y="2459736"/>
            <a:ext cx="2560320" cy="320040"/>
          </a:xfrm>
          <a:prstGeom prst="rect">
            <a:avLst/>
          </a:prstGeom>
          <a:noFill/>
          <a:ln/>
        </p:spPr>
        <p:txBody>
          <a:bodyPr wrap="square" lIns="0" tIns="0" rIns="0" bIns="0" rtlCol="0" anchor="t"/>
          <a:lstStyle/>
          <a:p>
            <a:pPr marL="0" indent="0">
              <a:buNone/>
            </a:pPr>
            <a:r>
              <a:rPr lang="en-US" sz="1150" dirty="0">
                <a:solidFill>
                  <a:schemeClr val="bg1"/>
                </a:solidFill>
              </a:rPr>
              <a:t>~2 in 5 alerts are real fraud</a:t>
            </a:r>
            <a:endParaRPr lang="en-US" sz="1150" dirty="0"/>
          </a:p>
        </p:txBody>
      </p:sp>
      <p:sp>
        <p:nvSpPr>
          <p:cNvPr id="10" name="card"/>
          <p:cNvSpPr/>
          <p:nvPr/>
        </p:nvSpPr>
        <p:spPr>
          <a:xfrm>
            <a:off x="5852160" y="3008376"/>
            <a:ext cx="2834640" cy="841248"/>
          </a:xfrm>
          <a:prstGeom prst="roundRect">
            <a:avLst>
              <a:gd name="adj" fmla="val 8696"/>
            </a:avLst>
          </a:prstGeom>
          <a:solidFill>
            <a:schemeClr val="bg2"/>
          </a:solidFill>
          <a:ln/>
        </p:spPr>
        <p:txBody>
          <a:bodyPr/>
          <a:lstStyle/>
          <a:p>
            <a:endParaRPr lang="en-GB"/>
          </a:p>
        </p:txBody>
      </p:sp>
      <p:sp>
        <p:nvSpPr>
          <p:cNvPr id="11" name="Text 8"/>
          <p:cNvSpPr txBox="1"/>
          <p:nvPr/>
        </p:nvSpPr>
        <p:spPr>
          <a:xfrm>
            <a:off x="6035040" y="3099816"/>
            <a:ext cx="2560320" cy="320040"/>
          </a:xfrm>
          <a:prstGeom prst="rect">
            <a:avLst/>
          </a:prstGeom>
          <a:noFill/>
          <a:ln/>
        </p:spPr>
        <p:txBody>
          <a:bodyPr wrap="square" lIns="0" tIns="0" rIns="0" bIns="0" rtlCol="0" anchor="t"/>
          <a:lstStyle/>
          <a:p>
            <a:pPr marL="0" indent="0">
              <a:buNone/>
            </a:pPr>
            <a:r>
              <a:rPr lang="en-US" sz="1300" b="1" dirty="0">
                <a:solidFill>
                  <a:schemeClr val="tx1"/>
                </a:solidFill>
              </a:rPr>
              <a:t>90% recall  ·  Max coverage</a:t>
            </a:r>
            <a:endParaRPr lang="en-US" sz="1300" dirty="0"/>
          </a:p>
        </p:txBody>
      </p:sp>
      <p:sp>
        <p:nvSpPr>
          <p:cNvPr id="12" name="Text 9"/>
          <p:cNvSpPr txBox="1"/>
          <p:nvPr/>
        </p:nvSpPr>
        <p:spPr>
          <a:xfrm>
            <a:off x="6035040" y="3438144"/>
            <a:ext cx="2560320" cy="320040"/>
          </a:xfrm>
          <a:prstGeom prst="rect">
            <a:avLst/>
          </a:prstGeom>
          <a:noFill/>
          <a:ln/>
        </p:spPr>
        <p:txBody>
          <a:bodyPr wrap="square" lIns="0" tIns="0" rIns="0" bIns="0" rtlCol="0" anchor="t"/>
          <a:lstStyle/>
          <a:p>
            <a:pPr marL="0" indent="0">
              <a:buNone/>
            </a:pPr>
            <a:r>
              <a:rPr lang="en-US" sz="1150" dirty="0">
                <a:solidFill>
                  <a:schemeClr val="accent4"/>
                </a:solidFill>
              </a:rPr>
              <a:t>~1 in 8 — queue grows fast</a:t>
            </a:r>
            <a:endParaRPr lang="en-US" sz="1150" dirty="0"/>
          </a:p>
        </p:txBody>
      </p:sp>
      <p:sp>
        <p:nvSpPr>
          <p:cNvPr id="13"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14" name="Text 11"/>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Set the dial to review capacity: 80% recall is the recommended starting point.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Analysis · Drivers</a:t>
            </a:r>
            <a:endParaRPr lang="en-US" sz="2000" dirty="0"/>
          </a:p>
        </p:txBody>
      </p:sp>
      <p:graphicFrame>
        <p:nvGraphicFramePr>
          <p:cNvPr id="3" name="Chart 0"/>
          <p:cNvGraphicFramePr/>
          <p:nvPr/>
        </p:nvGraphicFramePr>
        <p:xfrm>
          <a:off x="457200" y="1005840"/>
          <a:ext cx="51206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852160" y="1097280"/>
            <a:ext cx="2834640" cy="1051560"/>
          </a:xfrm>
          <a:prstGeom prst="roundRect">
            <a:avLst>
              <a:gd name="adj" fmla="val 6957"/>
            </a:avLst>
          </a:prstGeom>
          <a:solidFill>
            <a:schemeClr val="bg2"/>
          </a:solidFill>
          <a:ln/>
        </p:spPr>
        <p:txBody>
          <a:bodyPr/>
          <a:lstStyle/>
          <a:p>
            <a:endParaRPr lang="en-GB"/>
          </a:p>
        </p:txBody>
      </p:sp>
      <p:sp>
        <p:nvSpPr>
          <p:cNvPr id="5" name="Text 2"/>
          <p:cNvSpPr txBox="1"/>
          <p:nvPr/>
        </p:nvSpPr>
        <p:spPr>
          <a:xfrm>
            <a:off x="6035040" y="1170432"/>
            <a:ext cx="2468880" cy="566928"/>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76%</a:t>
            </a:r>
            <a:endParaRPr lang="en-US" sz="3000" dirty="0"/>
          </a:p>
        </p:txBody>
      </p:sp>
      <p:sp>
        <p:nvSpPr>
          <p:cNvPr id="6" name="Text 3"/>
          <p:cNvSpPr txBox="1"/>
          <p:nvPr/>
        </p:nvSpPr>
        <p:spPr>
          <a:xfrm>
            <a:off x="6035040" y="1737360"/>
            <a:ext cx="2468880" cy="365760"/>
          </a:xfrm>
          <a:prstGeom prst="rect">
            <a:avLst/>
          </a:prstGeom>
          <a:noFill/>
          <a:ln/>
        </p:spPr>
        <p:txBody>
          <a:bodyPr wrap="square" lIns="0" tIns="0" rIns="0" bIns="0" rtlCol="0" anchor="t"/>
          <a:lstStyle/>
          <a:p>
            <a:pPr marL="0" indent="0">
              <a:buNone/>
            </a:pPr>
            <a:r>
              <a:rPr lang="en-US" sz="1100" dirty="0">
                <a:solidFill>
                  <a:schemeClr val="accent4"/>
                </a:solidFill>
              </a:rPr>
              <a:t>of decision weight from velocity + relative amount</a:t>
            </a:r>
            <a:endParaRPr lang="en-US" sz="1100" dirty="0"/>
          </a:p>
        </p:txBody>
      </p:sp>
      <p:sp>
        <p:nvSpPr>
          <p:cNvPr id="7" name="Text 4"/>
          <p:cNvSpPr txBox="1"/>
          <p:nvPr/>
        </p:nvSpPr>
        <p:spPr>
          <a:xfrm>
            <a:off x="5852160" y="2331720"/>
            <a:ext cx="2834640" cy="1645920"/>
          </a:xfrm>
          <a:prstGeom prst="rect">
            <a:avLst/>
          </a:prstGeom>
          <a:noFill/>
          <a:ln/>
        </p:spPr>
        <p:txBody>
          <a:bodyPr wrap="square" lIns="0" tIns="0" rIns="0" bIns="0" rtlCol="0" anchor="t"/>
          <a:lstStyle/>
          <a:p>
            <a:pPr marL="0" indent="0">
              <a:buNone/>
            </a:pPr>
            <a:r>
              <a:rPr lang="en-US" sz="1250" dirty="0">
                <a:solidFill>
                  <a:schemeClr val="accent4"/>
                </a:solidFill>
              </a:rPr>
              <a:t>Because the drivers are intuitive, every flag can be explained to an analyst, a customer, or a regulator in one sentence.</a:t>
            </a:r>
            <a:endParaRPr lang="en-US" sz="1250" dirty="0"/>
          </a:p>
        </p:txBody>
      </p:sp>
      <p:sp>
        <p:nvSpPr>
          <p:cNvPr id="8" name="takeaway"/>
          <p:cNvSpPr/>
          <p:nvPr/>
        </p:nvSpPr>
        <p:spPr>
          <a:xfrm>
            <a:off x="457200" y="4114800"/>
            <a:ext cx="8229600" cy="502920"/>
          </a:xfrm>
          <a:prstGeom prst="roundRect">
            <a:avLst>
              <a:gd name="adj" fmla="val 14545"/>
            </a:avLst>
          </a:prstGeom>
          <a:solidFill>
            <a:schemeClr val="tx1"/>
          </a:solidFill>
          <a:ln/>
        </p:spPr>
        <p:txBody>
          <a:bodyPr/>
          <a:lstStyle/>
          <a:p>
            <a:endParaRPr lang="en-GB"/>
          </a:p>
        </p:txBody>
      </p:sp>
      <p:sp>
        <p:nvSpPr>
          <p:cNvPr id="9" name="Text 6"/>
          <p:cNvSpPr txBox="1"/>
          <p:nvPr/>
        </p:nvSpPr>
        <p:spPr>
          <a:xfrm>
            <a:off x="640080" y="4114800"/>
            <a:ext cx="7863840" cy="502920"/>
          </a:xfrm>
          <a:prstGeom prst="rect">
            <a:avLst/>
          </a:prstGeom>
          <a:noFill/>
          <a:ln/>
        </p:spPr>
        <p:txBody>
          <a:bodyPr wrap="square" lIns="0" tIns="0" rIns="0" bIns="0" rtlCol="0" anchor="ctr"/>
          <a:lstStyle/>
          <a:p>
            <a:pPr marL="0" indent="0">
              <a:buNone/>
            </a:pPr>
            <a:r>
              <a:rPr lang="en-US" sz="1300" b="1" dirty="0">
                <a:solidFill>
                  <a:schemeClr val="accent3"/>
                </a:solidFill>
              </a:rPr>
              <a:t>Takeaway  </a:t>
            </a:r>
            <a:r>
              <a:rPr lang="en-US" sz="1300" dirty="0">
                <a:solidFill>
                  <a:schemeClr val="bg1"/>
                </a:solidFill>
              </a:rPr>
              <a:t>Explainable by design — no black box: the score rests on behaviour analysts already understand.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Deployment · Live app</a:t>
            </a:r>
            <a:endParaRPr lang="en-US" sz="2000" dirty="0"/>
          </a:p>
        </p:txBody>
      </p:sp>
      <p:pic>
        <p:nvPicPr>
          <p:cNvPr id="3" name="streamlitQueue" descr="/root/.claude/uploads/3f409938-f397-5b69-9c56-77763c207eb2/1ef46431-image.png"/>
          <p:cNvPicPr>
            <a:picLocks noChangeAspect="1"/>
          </p:cNvPicPr>
          <p:nvPr/>
        </p:nvPicPr>
        <p:blipFill>
          <a:blip r:embed="rId3"/>
          <a:stretch>
            <a:fillRect/>
          </a:stretch>
        </p:blipFill>
        <p:spPr>
          <a:xfrm>
            <a:off x="457199" y="960119"/>
            <a:ext cx="6230735" cy="3411583"/>
          </a:xfrm>
          <a:prstGeom prst="rect">
            <a:avLst/>
          </a:prstGeom>
        </p:spPr>
      </p:pic>
      <p:sp>
        <p:nvSpPr>
          <p:cNvPr id="4" name="Text 1"/>
          <p:cNvSpPr txBox="1"/>
          <p:nvPr/>
        </p:nvSpPr>
        <p:spPr>
          <a:xfrm>
            <a:off x="4156165" y="4097602"/>
            <a:ext cx="3638006" cy="1045464"/>
          </a:xfrm>
          <a:prstGeom prst="rect">
            <a:avLst/>
          </a:prstGeom>
          <a:noFill/>
          <a:ln/>
        </p:spPr>
        <p:txBody>
          <a:bodyPr wrap="square" lIns="0" tIns="0" rIns="0" bIns="0" rtlCol="0" anchor="t"/>
          <a:lstStyle/>
          <a:p>
            <a:pPr marL="0" indent="0">
              <a:spcAft>
                <a:spcPts val="600"/>
              </a:spcAft>
              <a:buNone/>
            </a:pPr>
            <a:r>
              <a:rPr lang="en-US" sz="1200" b="1" dirty="0">
                <a:solidFill>
                  <a:schemeClr val="tx1"/>
                </a:solidFill>
              </a:rPr>
              <a:t>From 25,000 scored transactions:</a:t>
            </a:r>
            <a:endParaRPr lang="en-US" sz="1200" dirty="0"/>
          </a:p>
          <a:p>
            <a:pPr marL="342900" indent="-342900">
              <a:spcAft>
                <a:spcPts val="600"/>
              </a:spcAft>
              <a:buSzPct val="100000"/>
              <a:buChar char="•"/>
            </a:pPr>
            <a:r>
              <a:rPr lang="en-US" sz="1200" dirty="0">
                <a:solidFill>
                  <a:schemeClr val="tx1"/>
                </a:solidFill>
              </a:rPr>
              <a:t>1,429 flagged for review (5.7%)</a:t>
            </a:r>
            <a:endParaRPr lang="en-US" sz="1200" dirty="0"/>
          </a:p>
          <a:p>
            <a:pPr marL="342900" indent="-342900">
              <a:spcAft>
                <a:spcPts val="600"/>
              </a:spcAft>
              <a:buSzPct val="100000"/>
              <a:buChar char="•"/>
            </a:pPr>
            <a:r>
              <a:rPr lang="en-US" sz="1200" dirty="0">
                <a:solidFill>
                  <a:schemeClr val="tx1"/>
                </a:solidFill>
              </a:rPr>
              <a:t>520 of 636 frauds in the queue: 82% caught</a:t>
            </a:r>
            <a:endParaRPr lang="en-US" sz="1200" dirty="0"/>
          </a:p>
          <a:p>
            <a:pPr marL="342900" indent="-342900">
              <a:spcAft>
                <a:spcPts val="600"/>
              </a:spcAft>
              <a:buSzPct val="100000"/>
              <a:buChar char="•"/>
            </a:pPr>
            <a:r>
              <a:rPr lang="en-US" sz="1200" dirty="0">
                <a:solidFill>
                  <a:schemeClr val="tx1"/>
                </a:solidFill>
              </a:rPr>
              <a:t>Threshold 0.59 = 80% recall preset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Deployment </a:t>
            </a:r>
            <a:endParaRPr lang="en-US" sz="2000" dirty="0"/>
          </a:p>
        </p:txBody>
      </p:sp>
      <p:pic>
        <p:nvPicPr>
          <p:cNvPr id="3" name="streamlitTop" descr="/root/.claude/uploads/3f409938-f397-5b69-9c56-77763c207eb2/6cd19a4c-image.png"/>
          <p:cNvPicPr>
            <a:picLocks noChangeAspect="1"/>
          </p:cNvPicPr>
          <p:nvPr/>
        </p:nvPicPr>
        <p:blipFill>
          <a:blip r:embed="rId3"/>
          <a:stretch>
            <a:fillRect/>
          </a:stretch>
        </p:blipFill>
        <p:spPr>
          <a:xfrm>
            <a:off x="868680" y="960120"/>
            <a:ext cx="7406640" cy="329184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85800"/>
          </a:xfrm>
          <a:prstGeom prst="rect">
            <a:avLst/>
          </a:prstGeom>
          <a:noFill/>
          <a:ln/>
        </p:spPr>
        <p:txBody>
          <a:bodyPr wrap="square" lIns="0" tIns="0" rIns="0" bIns="0" rtlCol="0" anchor="ctr"/>
          <a:lstStyle/>
          <a:p>
            <a:pPr marL="0" indent="0" algn="l">
              <a:buNone/>
            </a:pPr>
            <a:r>
              <a:rPr lang="en-US" sz="2000" b="1" dirty="0">
                <a:solidFill>
                  <a:schemeClr val="tx1"/>
                </a:solidFill>
              </a:rPr>
              <a:t>Strategic outcomes</a:t>
            </a:r>
            <a:endParaRPr lang="en-US" sz="2000" dirty="0"/>
          </a:p>
        </p:txBody>
      </p:sp>
      <p:sp>
        <p:nvSpPr>
          <p:cNvPr id="3" name="card"/>
          <p:cNvSpPr/>
          <p:nvPr/>
        </p:nvSpPr>
        <p:spPr>
          <a:xfrm>
            <a:off x="457200" y="1097280"/>
            <a:ext cx="4023360" cy="1280160"/>
          </a:xfrm>
          <a:prstGeom prst="roundRect">
            <a:avLst>
              <a:gd name="adj" fmla="val 5714"/>
            </a:avLst>
          </a:prstGeom>
          <a:solidFill>
            <a:schemeClr val="bg2"/>
          </a:solidFill>
          <a:ln/>
        </p:spPr>
        <p:txBody>
          <a:bodyPr/>
          <a:lstStyle/>
          <a:p>
            <a:endParaRPr lang="en-GB"/>
          </a:p>
        </p:txBody>
      </p:sp>
      <p:sp>
        <p:nvSpPr>
          <p:cNvPr id="4" name="biDot"/>
          <p:cNvSpPr/>
          <p:nvPr/>
        </p:nvSpPr>
        <p:spPr>
          <a:xfrm>
            <a:off x="640080" y="1325880"/>
            <a:ext cx="365760" cy="365760"/>
          </a:xfrm>
          <a:prstGeom prst="ellipse">
            <a:avLst/>
          </a:prstGeom>
          <a:solidFill>
            <a:schemeClr val="accent1"/>
          </a:solidFill>
          <a:ln/>
        </p:spPr>
        <p:txBody>
          <a:bodyPr/>
          <a:lstStyle/>
          <a:p>
            <a:endParaRPr lang="en-GB"/>
          </a:p>
        </p:txBody>
      </p:sp>
      <p:sp>
        <p:nvSpPr>
          <p:cNvPr id="5" name="Text 3"/>
          <p:cNvSpPr txBox="1"/>
          <p:nvPr/>
        </p:nvSpPr>
        <p:spPr>
          <a:xfrm>
            <a:off x="1143000" y="1280160"/>
            <a:ext cx="3200400" cy="411480"/>
          </a:xfrm>
          <a:prstGeom prst="rect">
            <a:avLst/>
          </a:prstGeom>
          <a:noFill/>
          <a:ln/>
        </p:spPr>
        <p:txBody>
          <a:bodyPr wrap="square" lIns="0" tIns="0" rIns="0" bIns="0" rtlCol="0" anchor="ctr"/>
          <a:lstStyle/>
          <a:p>
            <a:pPr marL="0" indent="0">
              <a:buNone/>
            </a:pPr>
            <a:r>
              <a:rPr lang="en-US" sz="1500" b="1" dirty="0">
                <a:solidFill>
                  <a:schemeClr val="tx1"/>
                </a:solidFill>
              </a:rPr>
              <a:t>Lower fraud losses</a:t>
            </a:r>
            <a:endParaRPr lang="en-US" sz="1500" dirty="0"/>
          </a:p>
        </p:txBody>
      </p:sp>
      <p:sp>
        <p:nvSpPr>
          <p:cNvPr id="6" name="Text 4"/>
          <p:cNvSpPr txBox="1"/>
          <p:nvPr/>
        </p:nvSpPr>
        <p:spPr>
          <a:xfrm>
            <a:off x="1143000" y="1737360"/>
            <a:ext cx="3200400" cy="594360"/>
          </a:xfrm>
          <a:prstGeom prst="rect">
            <a:avLst/>
          </a:prstGeom>
          <a:noFill/>
          <a:ln/>
        </p:spPr>
        <p:txBody>
          <a:bodyPr wrap="square" lIns="0" tIns="0" rIns="0" bIns="0" rtlCol="0" anchor="t"/>
          <a:lstStyle/>
          <a:p>
            <a:pPr marL="0" indent="0">
              <a:buNone/>
            </a:pPr>
            <a:r>
              <a:rPr lang="en-US" sz="1200" dirty="0">
                <a:solidFill>
                  <a:schemeClr val="accent4"/>
                </a:solidFill>
              </a:rPr>
              <a:t>83% of fraud intercepted at the default setting</a:t>
            </a:r>
            <a:endParaRPr lang="en-US" sz="1200" dirty="0"/>
          </a:p>
        </p:txBody>
      </p:sp>
      <p:sp>
        <p:nvSpPr>
          <p:cNvPr id="7" name="card"/>
          <p:cNvSpPr/>
          <p:nvPr/>
        </p:nvSpPr>
        <p:spPr>
          <a:xfrm>
            <a:off x="4663440" y="1097280"/>
            <a:ext cx="4023360" cy="1280160"/>
          </a:xfrm>
          <a:prstGeom prst="roundRect">
            <a:avLst>
              <a:gd name="adj" fmla="val 5714"/>
            </a:avLst>
          </a:prstGeom>
          <a:solidFill>
            <a:schemeClr val="bg2"/>
          </a:solidFill>
          <a:ln/>
        </p:spPr>
        <p:txBody>
          <a:bodyPr/>
          <a:lstStyle/>
          <a:p>
            <a:endParaRPr lang="en-GB"/>
          </a:p>
        </p:txBody>
      </p:sp>
      <p:sp>
        <p:nvSpPr>
          <p:cNvPr id="8" name="biDot"/>
          <p:cNvSpPr/>
          <p:nvPr/>
        </p:nvSpPr>
        <p:spPr>
          <a:xfrm>
            <a:off x="4846320" y="1325880"/>
            <a:ext cx="365760" cy="365760"/>
          </a:xfrm>
          <a:prstGeom prst="ellipse">
            <a:avLst/>
          </a:prstGeom>
          <a:solidFill>
            <a:schemeClr val="accent2"/>
          </a:solidFill>
          <a:ln/>
        </p:spPr>
        <p:txBody>
          <a:bodyPr/>
          <a:lstStyle/>
          <a:p>
            <a:endParaRPr lang="en-GB"/>
          </a:p>
        </p:txBody>
      </p:sp>
      <p:sp>
        <p:nvSpPr>
          <p:cNvPr id="9" name="Text 7"/>
          <p:cNvSpPr txBox="1"/>
          <p:nvPr/>
        </p:nvSpPr>
        <p:spPr>
          <a:xfrm>
            <a:off x="5349240" y="1280160"/>
            <a:ext cx="3200400" cy="411480"/>
          </a:xfrm>
          <a:prstGeom prst="rect">
            <a:avLst/>
          </a:prstGeom>
          <a:noFill/>
          <a:ln/>
        </p:spPr>
        <p:txBody>
          <a:bodyPr wrap="square" lIns="0" tIns="0" rIns="0" bIns="0" rtlCol="0" anchor="ctr"/>
          <a:lstStyle/>
          <a:p>
            <a:pPr marL="0" indent="0">
              <a:buNone/>
            </a:pPr>
            <a:r>
              <a:rPr lang="en-US" sz="1500" b="1" dirty="0">
                <a:solidFill>
                  <a:schemeClr val="tx1"/>
                </a:solidFill>
              </a:rPr>
              <a:t>Less customer friction</a:t>
            </a:r>
            <a:endParaRPr lang="en-US" sz="1500" dirty="0"/>
          </a:p>
        </p:txBody>
      </p:sp>
      <p:sp>
        <p:nvSpPr>
          <p:cNvPr id="10" name="Text 8"/>
          <p:cNvSpPr txBox="1"/>
          <p:nvPr/>
        </p:nvSpPr>
        <p:spPr>
          <a:xfrm>
            <a:off x="5349240" y="1737360"/>
            <a:ext cx="3200400" cy="594360"/>
          </a:xfrm>
          <a:prstGeom prst="rect">
            <a:avLst/>
          </a:prstGeom>
          <a:noFill/>
          <a:ln/>
        </p:spPr>
        <p:txBody>
          <a:bodyPr wrap="square" lIns="0" tIns="0" rIns="0" bIns="0" rtlCol="0" anchor="t"/>
          <a:lstStyle/>
          <a:p>
            <a:pPr marL="0" indent="0">
              <a:buNone/>
            </a:pPr>
            <a:r>
              <a:rPr lang="en-US" sz="1200" dirty="0">
                <a:solidFill>
                  <a:schemeClr val="accent4"/>
                </a:solidFill>
              </a:rPr>
              <a:t>Judging payments against each account's norm stops blunt blocks on legitimate payroll and wires</a:t>
            </a:r>
            <a:endParaRPr lang="en-US" sz="1200" dirty="0"/>
          </a:p>
        </p:txBody>
      </p:sp>
      <p:sp>
        <p:nvSpPr>
          <p:cNvPr id="15" name="card"/>
          <p:cNvSpPr/>
          <p:nvPr/>
        </p:nvSpPr>
        <p:spPr>
          <a:xfrm>
            <a:off x="2560320" y="2788920"/>
            <a:ext cx="4023360" cy="1280160"/>
          </a:xfrm>
          <a:prstGeom prst="roundRect">
            <a:avLst>
              <a:gd name="adj" fmla="val 5714"/>
            </a:avLst>
          </a:prstGeom>
          <a:solidFill>
            <a:schemeClr val="bg2"/>
          </a:solidFill>
          <a:ln/>
        </p:spPr>
        <p:txBody>
          <a:bodyPr/>
          <a:lstStyle/>
          <a:p>
            <a:endParaRPr lang="en-GB"/>
          </a:p>
        </p:txBody>
      </p:sp>
      <p:sp>
        <p:nvSpPr>
          <p:cNvPr id="16" name="biDot"/>
          <p:cNvSpPr/>
          <p:nvPr/>
        </p:nvSpPr>
        <p:spPr>
          <a:xfrm>
            <a:off x="2743200" y="3017520"/>
            <a:ext cx="365760" cy="365760"/>
          </a:xfrm>
          <a:prstGeom prst="ellipse">
            <a:avLst/>
          </a:prstGeom>
          <a:solidFill>
            <a:schemeClr val="accent4"/>
          </a:solidFill>
          <a:ln/>
        </p:spPr>
        <p:txBody>
          <a:bodyPr/>
          <a:lstStyle/>
          <a:p>
            <a:endParaRPr lang="en-GB"/>
          </a:p>
        </p:txBody>
      </p:sp>
      <p:sp>
        <p:nvSpPr>
          <p:cNvPr id="17" name="Text 15"/>
          <p:cNvSpPr txBox="1"/>
          <p:nvPr/>
        </p:nvSpPr>
        <p:spPr>
          <a:xfrm>
            <a:off x="3246120" y="2971800"/>
            <a:ext cx="3200400" cy="411480"/>
          </a:xfrm>
          <a:prstGeom prst="rect">
            <a:avLst/>
          </a:prstGeom>
          <a:noFill/>
          <a:ln/>
        </p:spPr>
        <p:txBody>
          <a:bodyPr wrap="square" lIns="0" tIns="0" rIns="0" bIns="0" rtlCol="0" anchor="ctr"/>
          <a:lstStyle/>
          <a:p>
            <a:pPr marL="0" indent="0">
              <a:buNone/>
            </a:pPr>
            <a:r>
              <a:rPr lang="en-US" sz="1500" b="1" dirty="0">
                <a:solidFill>
                  <a:schemeClr val="tx1"/>
                </a:solidFill>
              </a:rPr>
              <a:t>Governance &amp; trust</a:t>
            </a:r>
            <a:endParaRPr lang="en-US" sz="1500" dirty="0"/>
          </a:p>
        </p:txBody>
      </p:sp>
      <p:sp>
        <p:nvSpPr>
          <p:cNvPr id="18" name="Text 16"/>
          <p:cNvSpPr txBox="1"/>
          <p:nvPr/>
        </p:nvSpPr>
        <p:spPr>
          <a:xfrm>
            <a:off x="3246120" y="3429000"/>
            <a:ext cx="3200400" cy="594360"/>
          </a:xfrm>
          <a:prstGeom prst="rect">
            <a:avLst/>
          </a:prstGeom>
          <a:noFill/>
          <a:ln/>
        </p:spPr>
        <p:txBody>
          <a:bodyPr wrap="square" lIns="0" tIns="0" rIns="0" bIns="0" rtlCol="0" anchor="t"/>
          <a:lstStyle/>
          <a:p>
            <a:pPr marL="0" indent="0">
              <a:buNone/>
            </a:pPr>
            <a:r>
              <a:rPr lang="en-US" sz="1200" dirty="0">
                <a:solidFill>
                  <a:schemeClr val="accent4"/>
                </a:solidFill>
              </a:rPr>
              <a:t>Every flag has a stated reason; thresholds are explicit, documented business choices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37752"/>
            <a:ext cx="8046720" cy="1188720"/>
          </a:xfrm>
          <a:prstGeom prst="rect">
            <a:avLst/>
          </a:prstGeom>
          <a:noFill/>
          <a:ln/>
        </p:spPr>
        <p:txBody>
          <a:bodyPr wrap="square" rtlCol="0" anchor="b"/>
          <a:lstStyle/>
          <a:p>
            <a:pPr marL="0" indent="0" algn="l">
              <a:buNone/>
            </a:pPr>
            <a:r>
              <a:rPr lang="en-US" sz="3800" b="1" dirty="0">
                <a:solidFill>
                  <a:schemeClr val="bg1"/>
                </a:solidFill>
              </a:rPr>
              <a:t>Behaviour beats thresholds</a:t>
            </a:r>
            <a:endParaRPr lang="en-US" sz="3800" dirty="0"/>
          </a:p>
        </p:txBody>
      </p:sp>
      <p:sp>
        <p:nvSpPr>
          <p:cNvPr id="4" name="Text 2"/>
          <p:cNvSpPr txBox="1"/>
          <p:nvPr/>
        </p:nvSpPr>
        <p:spPr>
          <a:xfrm>
            <a:off x="548640" y="2220684"/>
            <a:ext cx="80467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Fraud is best judged against each account's own </a:t>
            </a:r>
            <a:r>
              <a:rPr lang="en-US" sz="1400" dirty="0" err="1">
                <a:solidFill>
                  <a:schemeClr val="bg1"/>
                </a:solidFill>
              </a:rPr>
              <a:t>behaviour</a:t>
            </a:r>
            <a:r>
              <a:rPr lang="en-US" sz="1400" dirty="0">
                <a:solidFill>
                  <a:schemeClr val="bg1"/>
                </a:solidFill>
              </a:rPr>
              <a:t>.</a:t>
            </a:r>
          </a:p>
          <a:p>
            <a:pPr marL="342900" indent="-342900">
              <a:spcAft>
                <a:spcPts val="600"/>
              </a:spcAft>
              <a:buSzPct val="100000"/>
              <a:buChar char="•"/>
            </a:pPr>
            <a:r>
              <a:rPr lang="en-US" sz="1400" dirty="0">
                <a:solidFill>
                  <a:schemeClr val="bg1"/>
                </a:solidFill>
              </a:rPr>
              <a:t>A validated model (ROC-AUC 0.93) catches 4 in 5 frauds while reviewing ~6% of traffic.</a:t>
            </a:r>
            <a:endParaRPr lang="en-US" sz="1400" dirty="0"/>
          </a:p>
          <a:p>
            <a:pPr marL="342900" indent="-342900">
              <a:spcAft>
                <a:spcPts val="600"/>
              </a:spcAft>
              <a:buSzPct val="100000"/>
              <a:buChar char="•"/>
            </a:pPr>
            <a:r>
              <a:rPr lang="en-US" sz="1400" dirty="0">
                <a:solidFill>
                  <a:schemeClr val="bg1"/>
                </a:solidFill>
              </a:rPr>
              <a:t>The risk team controls the trade-off; every flag comes with a reason.</a:t>
            </a:r>
            <a:endParaRPr lang="en-US" sz="1400" dirty="0"/>
          </a:p>
          <a:p>
            <a:pPr marL="342900" indent="-342900">
              <a:spcAft>
                <a:spcPts val="600"/>
              </a:spcAft>
              <a:buSzPct val="100000"/>
              <a:buChar char="•"/>
            </a:pPr>
            <a:r>
              <a:rPr lang="en-US" sz="1400" dirty="0">
                <a:solidFill>
                  <a:schemeClr val="bg1"/>
                </a:solidFill>
              </a:rPr>
              <a:t>A working tool is ready for trials.</a:t>
            </a:r>
            <a:endParaRPr lang="en-US" sz="1400" dirty="0"/>
          </a:p>
        </p:txBody>
      </p:sp>
      <p:sp>
        <p:nvSpPr>
          <p:cNvPr id="5" name="Text 3"/>
          <p:cNvSpPr txBox="1"/>
          <p:nvPr/>
        </p:nvSpPr>
        <p:spPr>
          <a:xfrm>
            <a:off x="548640" y="4434840"/>
            <a:ext cx="8046720" cy="365760"/>
          </a:xfrm>
          <a:prstGeom prst="rect">
            <a:avLst/>
          </a:prstGeom>
          <a:noFill/>
          <a:ln/>
        </p:spPr>
        <p:txBody>
          <a:bodyPr wrap="square" lIns="0" tIns="0" rIns="0" bIns="0" rtlCol="0" anchor="t"/>
          <a:lstStyle/>
          <a:p>
            <a:pPr marL="0" indent="0" algn="ctr">
              <a:buNone/>
            </a:pPr>
            <a:r>
              <a:rPr lang="en-US" sz="1300" b="1" dirty="0">
                <a:solidFill>
                  <a:schemeClr val="accent3"/>
                </a:solidFill>
              </a:rPr>
              <a:t>Thank you!</a:t>
            </a:r>
            <a:endParaRPr lang="en-US" sz="1300" dirty="0"/>
          </a:p>
        </p:txBody>
      </p:sp>
    </p:spTree>
  </p:cSld>
  <p:clrMapOvr>
    <a:masterClrMapping/>
  </p:clrMapOvr>
</p:sld>
</file>

<file path=ppt/theme/theme1.xml><?xml version="1.0" encoding="utf-8"?>
<a:theme xmlns:a="http://schemas.openxmlformats.org/drawingml/2006/main" name="Finlora Risk">
  <a:themeElements>
    <a:clrScheme name="Finlora Risk">
      <a:dk1>
        <a:srgbClr val="14213D"/>
      </a:dk1>
      <a:lt1>
        <a:srgbClr val="FFFFFF"/>
      </a:lt1>
      <a:dk2>
        <a:srgbClr val="0B1526"/>
      </a:dk2>
      <a:lt2>
        <a:srgbClr val="EEF2F7"/>
      </a:lt2>
      <a:accent1>
        <a:srgbClr val="E4572E"/>
      </a:accent1>
      <a:accent2>
        <a:srgbClr val="2A9D8F"/>
      </a:accent2>
      <a:accent3>
        <a:srgbClr val="F2A541"/>
      </a:accent3>
      <a:accent4>
        <a:srgbClr val="5B6C8F"/>
      </a:accent4>
      <a:accent5>
        <a:srgbClr val="9AA8BF"/>
      </a:accent5>
      <a:accent6>
        <a:srgbClr val="C9D3E0"/>
      </a:accent6>
      <a:hlink>
        <a:srgbClr val="2A9D8F"/>
      </a:hlink>
      <a:folHlink>
        <a:srgbClr val="5B6C8F"/>
      </a:folHlink>
    </a:clrScheme>
    <a:fontScheme name="Finlora Ri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3764</Words>
  <Application>Microsoft Office PowerPoint</Application>
  <PresentationFormat>On-screen Show (16:9)</PresentationFormat>
  <Paragraphs>257</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Finlora Risk</vt:lpstr>
      <vt:lpstr>Finlora Fraud Detection and  Risk Scoring</vt:lpstr>
      <vt:lpstr>Who is Finlora</vt:lpstr>
      <vt:lpstr>Context</vt:lpstr>
      <vt:lpstr>Problem</vt:lpstr>
      <vt:lpstr>Project overview</vt:lpstr>
      <vt:lpstr>Aim</vt:lpstr>
      <vt:lpstr>The datasets</vt:lpstr>
      <vt:lpstr>Analysis · Data cleaning</vt:lpstr>
      <vt:lpstr>Analysis · EDA</vt:lpstr>
      <vt:lpstr>Analysis · EDA</vt:lpstr>
      <vt:lpstr>Analysis · EDA</vt:lpstr>
      <vt:lpstr>Analysis · Features &amp; models</vt:lpstr>
      <vt:lpstr>Analysis · Evaluation</vt:lpstr>
      <vt:lpstr>Evaluation</vt:lpstr>
      <vt:lpstr>Analysis · Drivers</vt:lpstr>
      <vt:lpstr>Deployment · Live app</vt:lpstr>
      <vt:lpstr>Deployment </vt:lpstr>
      <vt:lpstr>Strategic outcomes</vt:lpstr>
      <vt:lpstr>Behaviour beats thresholds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Finlora — Fraud Detection &amp; Risk Scoring</dc:title>
  <dc:subject>PptxGenJS Presentation</dc:subject>
  <dc:creator>Marc Aurel Ntjam Minkeng</dc:creator>
  <cp:lastModifiedBy>Marc  Ntjam Minkeng</cp:lastModifiedBy>
  <cp:revision>9</cp:revision>
  <dcterms:created xsi:type="dcterms:W3CDTF">2026-10-02T19:26:54Z</dcterms:created>
  <dcterms:modified xsi:type="dcterms:W3CDTF">2026-10-02T21:10:40Z</dcterms:modified>
</cp:coreProperties>
</file>